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41"/>
  </p:notesMasterIdLst>
  <p:sldIdLst>
    <p:sldId id="256" r:id="rId2"/>
    <p:sldId id="257" r:id="rId3"/>
    <p:sldId id="280" r:id="rId4"/>
    <p:sldId id="284" r:id="rId5"/>
    <p:sldId id="258" r:id="rId6"/>
    <p:sldId id="281" r:id="rId7"/>
    <p:sldId id="282" r:id="rId8"/>
    <p:sldId id="262" r:id="rId9"/>
    <p:sldId id="263" r:id="rId10"/>
    <p:sldId id="264" r:id="rId11"/>
    <p:sldId id="265" r:id="rId12"/>
    <p:sldId id="266" r:id="rId13"/>
    <p:sldId id="267" r:id="rId14"/>
    <p:sldId id="278" r:id="rId15"/>
    <p:sldId id="285" r:id="rId16"/>
    <p:sldId id="259" r:id="rId17"/>
    <p:sldId id="283" r:id="rId18"/>
    <p:sldId id="268" r:id="rId19"/>
    <p:sldId id="269" r:id="rId20"/>
    <p:sldId id="270" r:id="rId21"/>
    <p:sldId id="271" r:id="rId22"/>
    <p:sldId id="286" r:id="rId23"/>
    <p:sldId id="260" r:id="rId24"/>
    <p:sldId id="272" r:id="rId25"/>
    <p:sldId id="290" r:id="rId26"/>
    <p:sldId id="273" r:id="rId27"/>
    <p:sldId id="291" r:id="rId28"/>
    <p:sldId id="274" r:id="rId29"/>
    <p:sldId id="292" r:id="rId30"/>
    <p:sldId id="293" r:id="rId31"/>
    <p:sldId id="279" r:id="rId32"/>
    <p:sldId id="294" r:id="rId33"/>
    <p:sldId id="287" r:id="rId34"/>
    <p:sldId id="261" r:id="rId35"/>
    <p:sldId id="275" r:id="rId36"/>
    <p:sldId id="276" r:id="rId37"/>
    <p:sldId id="277" r:id="rId38"/>
    <p:sldId id="288" r:id="rId39"/>
    <p:sldId id="289" r:id="rId4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88" autoAdjust="0"/>
    <p:restoredTop sz="88312" autoAdjust="0"/>
  </p:normalViewPr>
  <p:slideViewPr>
    <p:cSldViewPr>
      <p:cViewPr>
        <p:scale>
          <a:sx n="75" d="100"/>
          <a:sy n="75" d="100"/>
        </p:scale>
        <p:origin x="-1224" y="192"/>
      </p:cViewPr>
      <p:guideLst>
        <p:guide orient="horz" pos="2160"/>
        <p:guide pos="2880"/>
      </p:guideLst>
    </p:cSldViewPr>
  </p:slideViewPr>
  <p:outlineViewPr>
    <p:cViewPr>
      <p:scale>
        <a:sx n="33" d="100"/>
        <a:sy n="33" d="100"/>
      </p:scale>
      <p:origin x="0" y="1917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D59FD69-0B48-413D-BF11-07D7A39902DA}" type="datetimeFigureOut">
              <a:rPr lang="zh-CN" altLang="en-US" smtClean="0"/>
              <a:pPr/>
              <a:t>2014/4/9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285987-AE45-4679-9CAF-5BB8DA6280BE}"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7285987-AE45-4679-9CAF-5BB8DA6280BE}" type="slidenum">
              <a:rPr lang="zh-CN" altLang="en-US" smtClean="0"/>
              <a:pPr/>
              <a:t>10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zh-CN" altLang="en-US" smtClean="0"/>
              <a:t>单击此处编辑母版标题样式</a:t>
            </a:r>
            <a:endParaRPr kumimoji="0"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30" name="日期占位符 29"/>
          <p:cNvSpPr>
            <a:spLocks noGrp="1"/>
          </p:cNvSpPr>
          <p:nvPr>
            <p:ph type="dt" sz="half" idx="10"/>
          </p:nvPr>
        </p:nvSpPr>
        <p:spPr/>
        <p:txBody>
          <a:bodyPr/>
          <a:lstStyle/>
          <a:p>
            <a:fld id="{530820CF-B880-4189-942D-D702A7CBA730}" type="datetimeFigureOut">
              <a:rPr lang="zh-CN" altLang="en-US" smtClean="0"/>
              <a:pPr/>
              <a:t>2014/4/9</a:t>
            </a:fld>
            <a:endParaRPr lang="zh-CN" altLang="en-US"/>
          </a:p>
        </p:txBody>
      </p:sp>
      <p:sp>
        <p:nvSpPr>
          <p:cNvPr id="19" name="页脚占位符 18"/>
          <p:cNvSpPr>
            <a:spLocks noGrp="1"/>
          </p:cNvSpPr>
          <p:nvPr>
            <p:ph type="ftr" sz="quarter" idx="11"/>
          </p:nvPr>
        </p:nvSpPr>
        <p:spPr/>
        <p:txBody>
          <a:bodyPr/>
          <a:lstStyle/>
          <a:p>
            <a:endParaRPr lang="zh-CN" altLang="en-US"/>
          </a:p>
        </p:txBody>
      </p:sp>
      <p:sp>
        <p:nvSpPr>
          <p:cNvPr id="27" name="灯片编号占位符 2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2014/4/9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2014/4/9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2014/4/9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tIns="45720" anchor="b"/>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2014/4/9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2014/4/9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2014/4/9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2014/4/9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9" name="单圆角矩形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直角三角形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标题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zh-CN" altLang="en-US" smtClean="0"/>
              <a:t>单击此处编辑母版标题样式</a:t>
            </a:r>
            <a:endParaRPr kumimoji="0" lang="en-US"/>
          </a:p>
        </p:txBody>
      </p:sp>
      <p:sp>
        <p:nvSpPr>
          <p:cNvPr id="4" name="文本占位符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2014/4/9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8077200" y="6356350"/>
            <a:ext cx="609600" cy="365125"/>
          </a:xfrm>
        </p:spPr>
        <p:txBody>
          <a:bodyPr/>
          <a:lstStyle/>
          <a:p>
            <a:fld id="{0C913308-F349-4B6D-A68A-DD1791B4A57B}" type="slidenum">
              <a:rPr lang="zh-CN" altLang="en-US" smtClean="0"/>
              <a:pPr/>
              <a:t>‹#›</a:t>
            </a:fld>
            <a:endParaRPr lang="zh-CN" altLang="en-US"/>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zh-CN" altLang="en-US" smtClean="0"/>
              <a:t>单击图标添加图片</a:t>
            </a:r>
            <a:endParaRPr kumimoji="0" lang="en-US" dirty="0"/>
          </a:p>
        </p:txBody>
      </p:sp>
      <p:sp>
        <p:nvSpPr>
          <p:cNvPr id="10" name="任意多边形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任意多边形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2014/4/9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914401"/>
            <a:ext cx="6019800" cy="5211763"/>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2014/4/9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任意多边形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标题占位符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zh-CN" altLang="en-US" smtClean="0"/>
              <a:t>单击此处编辑母版标题样式</a:t>
            </a:r>
            <a:endParaRPr kumimoji="0" lang="en-US"/>
          </a:p>
        </p:txBody>
      </p:sp>
      <p:sp>
        <p:nvSpPr>
          <p:cNvPr id="30" name="文本占位符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30820CF-B880-4189-942D-D702A7CBA730}" type="datetimeFigureOut">
              <a:rPr lang="zh-CN" altLang="en-US" smtClean="0"/>
              <a:pPr/>
              <a:t>2014/4/9</a:t>
            </a:fld>
            <a:endParaRPr lang="zh-CN" altLang="en-US"/>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zh-CN" altLang="en-US"/>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0C913308-F349-4B6D-A68A-DD1791B4A57B}" type="slidenum">
              <a:rPr lang="zh-CN" altLang="en-US" smtClean="0"/>
              <a:pPr/>
              <a:t>‹#›</a:t>
            </a:fld>
            <a:endParaRPr lang="zh-CN" altLang="en-US"/>
          </a:p>
        </p:txBody>
      </p:sp>
      <p:grpSp>
        <p:nvGrpSpPr>
          <p:cNvPr id="2" name="组合 1"/>
          <p:cNvGrpSpPr/>
          <p:nvPr/>
        </p:nvGrpSpPr>
        <p:grpSpPr>
          <a:xfrm>
            <a:off x="-19017" y="202408"/>
            <a:ext cx="9180548" cy="649224"/>
            <a:chOff x="-19045" y="216550"/>
            <a:chExt cx="9180548" cy="649224"/>
          </a:xfrm>
        </p:grpSpPr>
        <p:sp>
          <p:nvSpPr>
            <p:cNvPr id="12" name="任意多边形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任意多边形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zh-CN" altLang="en-US" dirty="0" smtClean="0"/>
              <a:t> 市场价格监管服务平台</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市场价格监管服务平台</a:t>
            </a:r>
            <a:endParaRPr lang="zh-CN" altLang="en-US" dirty="0"/>
          </a:p>
        </p:txBody>
      </p:sp>
      <p:sp>
        <p:nvSpPr>
          <p:cNvPr id="3" name="内容占位符 2"/>
          <p:cNvSpPr>
            <a:spLocks noGrp="1"/>
          </p:cNvSpPr>
          <p:nvPr>
            <p:ph idx="1"/>
          </p:nvPr>
        </p:nvSpPr>
        <p:spPr/>
        <p:txBody>
          <a:bodyPr/>
          <a:lstStyle/>
          <a:p>
            <a:r>
              <a:rPr lang="en-US" altLang="zh-CN" dirty="0" smtClean="0"/>
              <a:t>1.</a:t>
            </a:r>
            <a:r>
              <a:rPr lang="zh-CN" altLang="en-US" dirty="0" smtClean="0"/>
              <a:t>价格信用库</a:t>
            </a:r>
            <a:endParaRPr lang="en-US" altLang="zh-CN" dirty="0" smtClean="0"/>
          </a:p>
          <a:p>
            <a:r>
              <a:rPr lang="en-US" altLang="zh-CN" dirty="0" smtClean="0"/>
              <a:t>2.</a:t>
            </a:r>
            <a:r>
              <a:rPr lang="zh-CN" altLang="en-US" dirty="0" smtClean="0"/>
              <a:t>价格监测预警系统</a:t>
            </a:r>
            <a:endParaRPr lang="en-US" altLang="zh-CN" dirty="0" smtClean="0"/>
          </a:p>
          <a:p>
            <a:r>
              <a:rPr lang="en-US" altLang="zh-CN" dirty="0" smtClean="0"/>
              <a:t>3.</a:t>
            </a:r>
            <a:r>
              <a:rPr lang="zh-CN" altLang="en-US" dirty="0" smtClean="0"/>
              <a:t>价格地理信息平台</a:t>
            </a:r>
            <a:endParaRPr lang="en-US" altLang="zh-CN" dirty="0" smtClean="0"/>
          </a:p>
          <a:p>
            <a:r>
              <a:rPr lang="en-US" altLang="zh-CN" dirty="0" smtClean="0"/>
              <a:t>4.</a:t>
            </a:r>
            <a:r>
              <a:rPr lang="zh-CN" altLang="en-US" dirty="0" smtClean="0"/>
              <a:t>移动终端</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899592" y="762000"/>
            <a:ext cx="7305675" cy="6096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buNone/>
            </a:pPr>
            <a:r>
              <a:rPr lang="zh-CN" altLang="en-US" b="1" dirty="0" smtClean="0"/>
              <a:t>功能概述：</a:t>
            </a:r>
            <a:endParaRPr lang="en-US" altLang="zh-CN" b="1" dirty="0" smtClean="0"/>
          </a:p>
          <a:p>
            <a:pPr>
              <a:buNone/>
            </a:pPr>
            <a:r>
              <a:rPr lang="en-US" altLang="zh-CN" b="1" dirty="0" smtClean="0"/>
              <a:t>	</a:t>
            </a:r>
            <a:r>
              <a:rPr lang="zh-CN" altLang="en-US" dirty="0" smtClean="0"/>
              <a:t>本系统主要用来收集经营者的详细信息与价格信用信息，从而对经营者的信用等级进行划分，方便对经营者的管理。</a:t>
            </a:r>
            <a:endParaRPr lang="zh-CN" altLang="en-US" dirty="0"/>
          </a:p>
        </p:txBody>
      </p:sp>
      <p:sp>
        <p:nvSpPr>
          <p:cNvPr id="4" name="标题 1"/>
          <p:cNvSpPr>
            <a:spLocks noGrp="1"/>
          </p:cNvSpPr>
          <p:nvPr>
            <p:ph type="title"/>
          </p:nvPr>
        </p:nvSpPr>
        <p:spPr/>
        <p:txBody>
          <a:bodyPr/>
          <a:lstStyle/>
          <a:p>
            <a:r>
              <a:rPr lang="zh-CN" altLang="en-US" dirty="0" smtClean="0"/>
              <a:t>价格信用库</a:t>
            </a:r>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价格信用库</a:t>
            </a:r>
            <a:endParaRPr lang="zh-CN" altLang="en-US" dirty="0"/>
          </a:p>
        </p:txBody>
      </p:sp>
      <p:sp>
        <p:nvSpPr>
          <p:cNvPr id="3" name="内容占位符 2"/>
          <p:cNvSpPr>
            <a:spLocks noGrp="1"/>
          </p:cNvSpPr>
          <p:nvPr>
            <p:ph idx="1"/>
          </p:nvPr>
        </p:nvSpPr>
        <p:spPr/>
        <p:txBody>
          <a:bodyPr/>
          <a:lstStyle/>
          <a:p>
            <a:r>
              <a:rPr lang="zh-CN" altLang="en-US" dirty="0" smtClean="0"/>
              <a:t>详细信息登记</a:t>
            </a:r>
            <a:endParaRPr lang="en-US" altLang="zh-CN" dirty="0" smtClean="0"/>
          </a:p>
          <a:p>
            <a:r>
              <a:rPr lang="zh-CN" altLang="en-US" dirty="0" smtClean="0"/>
              <a:t>详细信息审核</a:t>
            </a:r>
            <a:endParaRPr lang="en-US" altLang="zh-CN" dirty="0" smtClean="0"/>
          </a:p>
          <a:p>
            <a:r>
              <a:rPr lang="zh-CN" altLang="en-US" dirty="0" smtClean="0"/>
              <a:t>信用信息登记</a:t>
            </a:r>
            <a:endParaRPr lang="en-US" altLang="zh-CN" dirty="0" smtClean="0"/>
          </a:p>
          <a:p>
            <a:r>
              <a:rPr lang="zh-CN" altLang="en-US" dirty="0" smtClean="0"/>
              <a:t>信用考核管理</a:t>
            </a:r>
            <a:endParaRPr lang="en-US" altLang="zh-CN" dirty="0" smtClean="0"/>
          </a:p>
          <a:p>
            <a:r>
              <a:rPr lang="zh-CN" altLang="en-US" dirty="0" smtClean="0"/>
              <a:t>信息统计</a:t>
            </a:r>
            <a:endParaRPr lang="en-US" altLang="zh-CN" dirty="0" smtClean="0"/>
          </a:p>
          <a:p>
            <a:r>
              <a:rPr lang="zh-CN" altLang="en-US" dirty="0" smtClean="0"/>
              <a:t>工作考核</a:t>
            </a:r>
            <a:endParaRPr lang="en-US" altLang="zh-CN" dirty="0" smtClean="0"/>
          </a:p>
          <a:p>
            <a:r>
              <a:rPr lang="zh-CN" altLang="en-US" dirty="0" smtClean="0"/>
              <a:t>用户管理</a:t>
            </a:r>
            <a:endParaRPr lang="zh-CN"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5544616"/>
          </a:xfrm>
        </p:spPr>
        <p:txBody>
          <a:bodyPr/>
          <a:lstStyle/>
          <a:p>
            <a:pPr>
              <a:buNone/>
            </a:pPr>
            <a:r>
              <a:rPr lang="zh-CN" altLang="en-US" b="1" dirty="0" smtClean="0"/>
              <a:t>经营者详细信息上报流程：</a:t>
            </a:r>
            <a:endParaRPr lang="zh-CN" altLang="en-US" b="1" dirty="0"/>
          </a:p>
        </p:txBody>
      </p:sp>
      <p:pic>
        <p:nvPicPr>
          <p:cNvPr id="2051" name="Picture 3"/>
          <p:cNvPicPr>
            <a:picLocks noChangeAspect="1" noChangeArrowheads="1"/>
          </p:cNvPicPr>
          <p:nvPr/>
        </p:nvPicPr>
        <p:blipFill>
          <a:blip r:embed="rId2" cstate="print"/>
          <a:srcRect/>
          <a:stretch>
            <a:fillRect/>
          </a:stretch>
        </p:blipFill>
        <p:spPr bwMode="auto">
          <a:xfrm>
            <a:off x="1259632" y="2348880"/>
            <a:ext cx="6569045" cy="29098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08720"/>
            <a:ext cx="8229600" cy="5616624"/>
          </a:xfrm>
        </p:spPr>
        <p:txBody>
          <a:bodyPr/>
          <a:lstStyle/>
          <a:p>
            <a:pPr>
              <a:buNone/>
            </a:pPr>
            <a:r>
              <a:rPr lang="zh-CN" altLang="en-US" b="1" dirty="0" smtClean="0"/>
              <a:t>经营者信用信息登记流程：</a:t>
            </a:r>
            <a:endParaRPr lang="zh-CN" altLang="en-US" b="1" dirty="0"/>
          </a:p>
        </p:txBody>
      </p:sp>
      <p:pic>
        <p:nvPicPr>
          <p:cNvPr id="3074" name="Picture 2"/>
          <p:cNvPicPr>
            <a:picLocks noChangeAspect="1" noChangeArrowheads="1"/>
          </p:cNvPicPr>
          <p:nvPr/>
        </p:nvPicPr>
        <p:blipFill>
          <a:blip r:embed="rId2" cstate="print"/>
          <a:srcRect/>
          <a:stretch>
            <a:fillRect/>
          </a:stretch>
        </p:blipFill>
        <p:spPr bwMode="auto">
          <a:xfrm>
            <a:off x="1259632" y="1628800"/>
            <a:ext cx="6460591" cy="44258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908720"/>
            <a:ext cx="8229600" cy="5949280"/>
          </a:xfrm>
        </p:spPr>
        <p:txBody>
          <a:bodyPr>
            <a:normAutofit fontScale="92500" lnSpcReduction="10000"/>
          </a:bodyPr>
          <a:lstStyle/>
          <a:p>
            <a:pPr>
              <a:buNone/>
            </a:pPr>
            <a:r>
              <a:rPr lang="zh-CN" altLang="en-US" b="1" dirty="0" smtClean="0"/>
              <a:t>详细信息登记：</a:t>
            </a:r>
            <a:endParaRPr lang="en-US" altLang="zh-CN" b="1" dirty="0" smtClean="0"/>
          </a:p>
          <a:p>
            <a:pPr>
              <a:buFont typeface="Wingdings" pitchFamily="2" charset="2"/>
              <a:buChar char="l"/>
            </a:pPr>
            <a:r>
              <a:rPr lang="zh-CN" altLang="en-US" sz="2400" dirty="0" smtClean="0"/>
              <a:t>经营者基本信息登记</a:t>
            </a:r>
            <a:endParaRPr lang="en-US" altLang="zh-CN" sz="2400" dirty="0" smtClean="0"/>
          </a:p>
          <a:p>
            <a:pPr>
              <a:buNone/>
            </a:pPr>
            <a:r>
              <a:rPr lang="zh-CN" altLang="en-US" sz="1900" dirty="0" smtClean="0"/>
              <a:t>     </a:t>
            </a:r>
            <a:r>
              <a:rPr lang="zh-CN" altLang="en-US" sz="2100" dirty="0" smtClean="0"/>
              <a:t>用户可以手动填写经营者的基本信息，也可以让系统根据组织机构码从法人库获得该经营者的部分基本信息。</a:t>
            </a:r>
            <a:endParaRPr lang="en-US" altLang="zh-CN" sz="2100" dirty="0" smtClean="0"/>
          </a:p>
          <a:p>
            <a:pPr>
              <a:buNone/>
            </a:pPr>
            <a:r>
              <a:rPr lang="en-US" altLang="zh-CN" sz="2100" dirty="0" smtClean="0"/>
              <a:t>     </a:t>
            </a:r>
            <a:r>
              <a:rPr lang="zh-CN" altLang="zh-CN" sz="2100" dirty="0" smtClean="0"/>
              <a:t>用户可以通过手动更新操作对从法人库获得的</a:t>
            </a:r>
            <a:r>
              <a:rPr lang="zh-CN" altLang="en-US" sz="2100" dirty="0" smtClean="0"/>
              <a:t>基本</a:t>
            </a:r>
            <a:r>
              <a:rPr lang="zh-CN" altLang="zh-CN" sz="2100" dirty="0" smtClean="0"/>
              <a:t>信息与法人库进行同步。</a:t>
            </a:r>
            <a:endParaRPr lang="en-US" altLang="zh-CN" sz="2100" dirty="0" smtClean="0"/>
          </a:p>
          <a:p>
            <a:pPr>
              <a:buNone/>
            </a:pPr>
            <a:r>
              <a:rPr lang="zh-CN" altLang="en-US" sz="2100" dirty="0" smtClean="0"/>
              <a:t>     基本信息包括：</a:t>
            </a:r>
            <a:r>
              <a:rPr lang="zh-CN" altLang="zh-CN" sz="2100" dirty="0" smtClean="0"/>
              <a:t>组织机构代码</a:t>
            </a:r>
            <a:r>
              <a:rPr lang="zh-CN" altLang="en-US" sz="2100" dirty="0" smtClean="0"/>
              <a:t>、</a:t>
            </a:r>
            <a:r>
              <a:rPr lang="zh-CN" altLang="zh-CN" sz="2100" dirty="0" smtClean="0"/>
              <a:t>经营者名称</a:t>
            </a:r>
            <a:r>
              <a:rPr lang="zh-CN" altLang="en-US" sz="2100" dirty="0" smtClean="0"/>
              <a:t>、</a:t>
            </a:r>
            <a:r>
              <a:rPr lang="zh-CN" altLang="zh-CN" sz="2100" dirty="0" smtClean="0"/>
              <a:t>法定代表人姓名</a:t>
            </a:r>
            <a:r>
              <a:rPr lang="zh-CN" altLang="en-US" sz="2100" dirty="0" smtClean="0"/>
              <a:t>、</a:t>
            </a:r>
            <a:r>
              <a:rPr lang="zh-CN" altLang="zh-CN" sz="2100" dirty="0" smtClean="0"/>
              <a:t>法定代表人证件类型</a:t>
            </a:r>
            <a:r>
              <a:rPr lang="zh-CN" altLang="en-US" sz="2100" dirty="0" smtClean="0"/>
              <a:t>、</a:t>
            </a:r>
            <a:r>
              <a:rPr lang="zh-CN" altLang="zh-CN" sz="2100" dirty="0" smtClean="0"/>
              <a:t>法定代表人身份证号</a:t>
            </a:r>
            <a:r>
              <a:rPr lang="zh-CN" altLang="en-US" sz="2100" dirty="0" smtClean="0"/>
              <a:t>、</a:t>
            </a:r>
            <a:r>
              <a:rPr lang="zh-CN" altLang="zh-CN" sz="2100" dirty="0" smtClean="0"/>
              <a:t>责任人姓名</a:t>
            </a:r>
            <a:r>
              <a:rPr lang="zh-CN" altLang="en-US" sz="2100" dirty="0" smtClean="0"/>
              <a:t>、</a:t>
            </a:r>
            <a:r>
              <a:rPr lang="zh-CN" altLang="zh-CN" sz="2100" dirty="0" smtClean="0"/>
              <a:t>责任人证件类型</a:t>
            </a:r>
            <a:r>
              <a:rPr lang="zh-CN" altLang="en-US" sz="2100" dirty="0" smtClean="0"/>
              <a:t>、</a:t>
            </a:r>
            <a:r>
              <a:rPr lang="zh-CN" altLang="zh-CN" sz="2100" dirty="0" smtClean="0"/>
              <a:t>责任人身份证号</a:t>
            </a:r>
            <a:r>
              <a:rPr lang="zh-CN" altLang="en-US" sz="2100" dirty="0" smtClean="0"/>
              <a:t>、</a:t>
            </a:r>
            <a:r>
              <a:rPr lang="zh-CN" altLang="zh-CN" sz="2100" dirty="0" smtClean="0"/>
              <a:t>注册地址</a:t>
            </a:r>
            <a:r>
              <a:rPr lang="zh-CN" altLang="en-US" sz="2100" dirty="0" smtClean="0"/>
              <a:t>、</a:t>
            </a:r>
            <a:r>
              <a:rPr lang="zh-CN" altLang="zh-CN" sz="2100" dirty="0" smtClean="0"/>
              <a:t>注册资本</a:t>
            </a:r>
            <a:r>
              <a:rPr lang="zh-CN" altLang="en-US" sz="2100" dirty="0" smtClean="0"/>
              <a:t>、</a:t>
            </a:r>
            <a:r>
              <a:rPr lang="zh-CN" altLang="zh-CN" sz="2100" dirty="0" smtClean="0"/>
              <a:t>企业性质</a:t>
            </a:r>
            <a:r>
              <a:rPr lang="zh-CN" altLang="en-US" sz="2100" dirty="0" smtClean="0"/>
              <a:t>、</a:t>
            </a:r>
            <a:r>
              <a:rPr lang="zh-CN" altLang="zh-CN" sz="2100" dirty="0" smtClean="0"/>
              <a:t>许可证号</a:t>
            </a:r>
            <a:r>
              <a:rPr lang="zh-CN" altLang="en-US" sz="2100" dirty="0" smtClean="0"/>
              <a:t>、</a:t>
            </a:r>
            <a:r>
              <a:rPr lang="zh-CN" altLang="zh-CN" sz="2100" dirty="0" smtClean="0"/>
              <a:t>经营范围</a:t>
            </a:r>
            <a:r>
              <a:rPr lang="zh-CN" altLang="en-US" sz="2100" dirty="0" smtClean="0"/>
              <a:t>、</a:t>
            </a:r>
            <a:r>
              <a:rPr lang="zh-CN" altLang="zh-CN" sz="2100" dirty="0" smtClean="0"/>
              <a:t>营业期限</a:t>
            </a:r>
            <a:r>
              <a:rPr lang="zh-CN" altLang="en-US" sz="2100" dirty="0" smtClean="0"/>
              <a:t>、</a:t>
            </a:r>
            <a:r>
              <a:rPr lang="zh-CN" altLang="zh-CN" sz="2100" dirty="0" smtClean="0"/>
              <a:t>所属地区</a:t>
            </a:r>
            <a:r>
              <a:rPr lang="zh-CN" altLang="en-US" sz="2100" dirty="0" smtClean="0"/>
              <a:t>、</a:t>
            </a:r>
            <a:r>
              <a:rPr lang="zh-CN" altLang="zh-CN" sz="2100" dirty="0" smtClean="0"/>
              <a:t>所在地址</a:t>
            </a:r>
            <a:r>
              <a:rPr lang="zh-CN" altLang="en-US" sz="2100" dirty="0" smtClean="0"/>
              <a:t>、</a:t>
            </a:r>
            <a:r>
              <a:rPr lang="zh-CN" altLang="zh-CN" sz="2100" dirty="0" smtClean="0"/>
              <a:t>联系电话</a:t>
            </a:r>
            <a:r>
              <a:rPr lang="zh-CN" altLang="en-US" sz="2100" dirty="0" smtClean="0"/>
              <a:t>、</a:t>
            </a:r>
            <a:r>
              <a:rPr lang="zh-CN" altLang="zh-CN" sz="2100" dirty="0" smtClean="0"/>
              <a:t>邮编</a:t>
            </a:r>
            <a:r>
              <a:rPr lang="zh-CN" altLang="en-US" sz="2100" dirty="0" smtClean="0"/>
              <a:t>、</a:t>
            </a:r>
            <a:r>
              <a:rPr lang="zh-CN" altLang="zh-CN" sz="2100" dirty="0" smtClean="0"/>
              <a:t>备注</a:t>
            </a:r>
            <a:r>
              <a:rPr lang="zh-CN" altLang="en-US" sz="2100" dirty="0" smtClean="0"/>
              <a:t>。</a:t>
            </a:r>
            <a:endParaRPr lang="en-US" altLang="zh-CN" sz="2100" dirty="0" smtClean="0"/>
          </a:p>
          <a:p>
            <a:pPr>
              <a:buFont typeface="Wingdings" pitchFamily="2" charset="2"/>
              <a:buChar char="l"/>
            </a:pPr>
            <a:r>
              <a:rPr lang="zh-CN" altLang="en-US" sz="2400" dirty="0" smtClean="0"/>
              <a:t>经营者许可信息登记</a:t>
            </a:r>
            <a:endParaRPr lang="en-US" altLang="zh-CN" sz="2400" dirty="0" smtClean="0"/>
          </a:p>
          <a:p>
            <a:pPr>
              <a:buNone/>
            </a:pPr>
            <a:r>
              <a:rPr lang="zh-CN" altLang="en-US" sz="1900" dirty="0" smtClean="0"/>
              <a:t>     </a:t>
            </a:r>
            <a:r>
              <a:rPr lang="zh-CN" altLang="en-US" sz="2100" dirty="0" smtClean="0"/>
              <a:t>用户可以手动填写经营者的许可信息。</a:t>
            </a:r>
            <a:endParaRPr lang="en-US" altLang="zh-CN" sz="2100" dirty="0" smtClean="0"/>
          </a:p>
          <a:p>
            <a:pPr>
              <a:buNone/>
            </a:pPr>
            <a:r>
              <a:rPr lang="zh-CN" altLang="en-US" sz="2100" dirty="0" smtClean="0"/>
              <a:t>     许可信息包括：</a:t>
            </a:r>
            <a:r>
              <a:rPr lang="zh-CN" altLang="zh-CN" sz="2100" dirty="0" smtClean="0"/>
              <a:t>许可证号</a:t>
            </a:r>
            <a:r>
              <a:rPr lang="zh-CN" altLang="en-US" sz="2100" dirty="0" smtClean="0"/>
              <a:t>、</a:t>
            </a:r>
            <a:r>
              <a:rPr lang="zh-CN" altLang="zh-CN" sz="2100" dirty="0" smtClean="0"/>
              <a:t>许可证名称</a:t>
            </a:r>
            <a:r>
              <a:rPr lang="zh-CN" altLang="en-US" sz="2100" dirty="0" smtClean="0"/>
              <a:t>、</a:t>
            </a:r>
            <a:r>
              <a:rPr lang="zh-CN" altLang="zh-CN" sz="2100" dirty="0" smtClean="0"/>
              <a:t>发证单位</a:t>
            </a:r>
            <a:r>
              <a:rPr lang="zh-CN" altLang="en-US" sz="2100" dirty="0" smtClean="0"/>
              <a:t>、</a:t>
            </a:r>
            <a:r>
              <a:rPr lang="zh-CN" altLang="zh-CN" sz="2100" dirty="0" smtClean="0"/>
              <a:t>发证日期</a:t>
            </a:r>
            <a:r>
              <a:rPr lang="zh-CN" altLang="en-US" sz="2100" dirty="0" smtClean="0"/>
              <a:t>、</a:t>
            </a:r>
            <a:r>
              <a:rPr lang="zh-CN" altLang="zh-CN" sz="2100" dirty="0" smtClean="0"/>
              <a:t>证件有效期</a:t>
            </a:r>
            <a:r>
              <a:rPr lang="zh-CN" altLang="en-US" sz="2100" dirty="0" smtClean="0"/>
              <a:t>、  </a:t>
            </a:r>
            <a:r>
              <a:rPr lang="zh-CN" altLang="zh-CN" sz="2100" dirty="0" smtClean="0"/>
              <a:t>许可证类型</a:t>
            </a:r>
            <a:r>
              <a:rPr lang="zh-CN" altLang="en-US" sz="2100" dirty="0" smtClean="0"/>
              <a:t>、</a:t>
            </a:r>
            <a:r>
              <a:rPr lang="zh-CN" altLang="zh-CN" sz="2100" dirty="0" smtClean="0"/>
              <a:t>许可范围</a:t>
            </a:r>
            <a:r>
              <a:rPr lang="zh-CN" altLang="en-US" sz="2100" dirty="0" smtClean="0"/>
              <a:t>。</a:t>
            </a:r>
            <a:endParaRPr lang="en-US" altLang="zh-CN" sz="2100" dirty="0" smtClean="0"/>
          </a:p>
          <a:p>
            <a:pPr>
              <a:buFont typeface="Wingdings" pitchFamily="2" charset="2"/>
              <a:buChar char="l"/>
            </a:pPr>
            <a:r>
              <a:rPr lang="zh-CN" altLang="en-US" sz="2400" dirty="0" smtClean="0"/>
              <a:t>经营者财务信息登记</a:t>
            </a:r>
            <a:endParaRPr lang="en-US" altLang="zh-CN" sz="2400" dirty="0" smtClean="0"/>
          </a:p>
          <a:p>
            <a:pPr>
              <a:buNone/>
            </a:pPr>
            <a:r>
              <a:rPr lang="zh-CN" altLang="en-US" sz="2400" dirty="0" smtClean="0"/>
              <a:t>    </a:t>
            </a:r>
            <a:r>
              <a:rPr lang="zh-CN" altLang="en-US" sz="2100" dirty="0" smtClean="0"/>
              <a:t>用户可以手动填写经营者的财务信息，也可以让系统根据组织机构码从法人库获得该经营者的部分财务信息。</a:t>
            </a:r>
            <a:endParaRPr lang="en-US" altLang="zh-CN" sz="2100" dirty="0" smtClean="0"/>
          </a:p>
          <a:p>
            <a:pPr>
              <a:buNone/>
            </a:pPr>
            <a:r>
              <a:rPr lang="en-US" altLang="zh-CN" sz="2100" dirty="0" smtClean="0"/>
              <a:t>     </a:t>
            </a:r>
            <a:r>
              <a:rPr lang="zh-CN" altLang="zh-CN" sz="2100" dirty="0" smtClean="0"/>
              <a:t>用户可以通过手动更新操作对从法人库获得的</a:t>
            </a:r>
            <a:r>
              <a:rPr lang="zh-CN" altLang="en-US" sz="2100" dirty="0" smtClean="0"/>
              <a:t>财务</a:t>
            </a:r>
            <a:r>
              <a:rPr lang="zh-CN" altLang="zh-CN" sz="2100" dirty="0" smtClean="0"/>
              <a:t>信息与法人库进行同步。</a:t>
            </a:r>
            <a:r>
              <a:rPr lang="en-US" altLang="zh-CN" sz="2100" dirty="0" smtClean="0"/>
              <a:t/>
            </a:r>
            <a:br>
              <a:rPr lang="en-US" altLang="zh-CN" sz="2100" dirty="0" smtClean="0"/>
            </a:br>
            <a:r>
              <a:rPr lang="zh-CN" altLang="en-US" sz="2100" dirty="0" smtClean="0"/>
              <a:t>财务信息包括：</a:t>
            </a:r>
            <a:r>
              <a:rPr lang="zh-CN" altLang="zh-CN" sz="2100" dirty="0" smtClean="0"/>
              <a:t>销售额</a:t>
            </a:r>
            <a:r>
              <a:rPr lang="zh-CN" altLang="en-US" sz="2100" dirty="0" smtClean="0"/>
              <a:t>、</a:t>
            </a:r>
            <a:r>
              <a:rPr lang="zh-CN" altLang="zh-CN" sz="2100" dirty="0" smtClean="0"/>
              <a:t>年度</a:t>
            </a:r>
            <a:r>
              <a:rPr lang="zh-CN" altLang="en-US" sz="2100" dirty="0" smtClean="0"/>
              <a:t>。</a:t>
            </a:r>
            <a:endParaRPr lang="en-US" altLang="zh-CN" sz="2100" dirty="0" smtClean="0"/>
          </a:p>
          <a:p>
            <a:pPr>
              <a:buNone/>
            </a:pPr>
            <a:endParaRPr lang="zh-CN" altLang="en-US" sz="2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4389120"/>
          </a:xfrm>
        </p:spPr>
        <p:txBody>
          <a:bodyPr/>
          <a:lstStyle/>
          <a:p>
            <a:pPr>
              <a:buNone/>
            </a:pPr>
            <a:r>
              <a:rPr lang="zh-CN" altLang="en-US" b="1" dirty="0" smtClean="0"/>
              <a:t>详细信息审核：</a:t>
            </a:r>
            <a:endParaRPr lang="en-US" altLang="zh-CN" b="1" dirty="0" smtClean="0"/>
          </a:p>
          <a:p>
            <a:pPr>
              <a:buFont typeface="Wingdings" pitchFamily="2" charset="2"/>
              <a:buChar char="l"/>
            </a:pPr>
            <a:r>
              <a:rPr lang="zh-CN" altLang="en-US" sz="2400" dirty="0" smtClean="0"/>
              <a:t>基本信息审核</a:t>
            </a:r>
            <a:endParaRPr lang="en-US" altLang="zh-CN" sz="2400" dirty="0" smtClean="0"/>
          </a:p>
          <a:p>
            <a:pPr>
              <a:buNone/>
            </a:pPr>
            <a:r>
              <a:rPr lang="zh-CN" altLang="en-US" sz="2400" dirty="0" smtClean="0"/>
              <a:t>    </a:t>
            </a:r>
            <a:r>
              <a:rPr lang="zh-CN" altLang="en-US" sz="2000" dirty="0" smtClean="0"/>
              <a:t>用户可以对登记的基本信息进行审核，在审核过程中，如果发现信息不全或存在错误，可进行补全或修改。</a:t>
            </a:r>
            <a:endParaRPr lang="en-US" altLang="zh-CN" sz="2000" dirty="0" smtClean="0"/>
          </a:p>
          <a:p>
            <a:pPr>
              <a:buFont typeface="Wingdings" pitchFamily="2" charset="2"/>
              <a:buChar char="l"/>
            </a:pPr>
            <a:r>
              <a:rPr lang="zh-CN" altLang="en-US" sz="2400" dirty="0" smtClean="0"/>
              <a:t>许可信息审核</a:t>
            </a:r>
            <a:endParaRPr lang="en-US" altLang="zh-CN" sz="2400" dirty="0" smtClean="0"/>
          </a:p>
          <a:p>
            <a:pPr>
              <a:buNone/>
            </a:pPr>
            <a:r>
              <a:rPr lang="zh-CN" altLang="en-US" sz="2400" dirty="0" smtClean="0"/>
              <a:t>    </a:t>
            </a:r>
            <a:r>
              <a:rPr lang="zh-CN" altLang="en-US" sz="2000" dirty="0" smtClean="0"/>
              <a:t>用户可以对登记的许可信息进行审核，在审核过程中，如果发现信息不全或存在错误，可进行补全或修改。</a:t>
            </a:r>
            <a:endParaRPr lang="en-US" altLang="zh-CN" sz="2000" dirty="0" smtClean="0"/>
          </a:p>
          <a:p>
            <a:pPr>
              <a:buFont typeface="Wingdings" pitchFamily="2" charset="2"/>
              <a:buChar char="l"/>
            </a:pPr>
            <a:r>
              <a:rPr lang="zh-CN" altLang="en-US" sz="2400" dirty="0" smtClean="0"/>
              <a:t>财务信息审核</a:t>
            </a:r>
            <a:endParaRPr lang="en-US" altLang="zh-CN" sz="2400" dirty="0" smtClean="0"/>
          </a:p>
          <a:p>
            <a:pPr>
              <a:buNone/>
            </a:pPr>
            <a:r>
              <a:rPr lang="zh-CN" altLang="en-US" sz="2400" dirty="0" smtClean="0"/>
              <a:t>    </a:t>
            </a:r>
            <a:r>
              <a:rPr lang="zh-CN" altLang="en-US" sz="2000" dirty="0" smtClean="0"/>
              <a:t>用户可以对登记的财务信息进行审核，在审核过程中，如果发现信息不全或存在错误，可进行补全或修改。</a:t>
            </a:r>
            <a:endParaRPr lang="zh-CN" altLang="en-US" sz="2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5949280"/>
          </a:xfrm>
        </p:spPr>
        <p:txBody>
          <a:bodyPr>
            <a:normAutofit fontScale="92500" lnSpcReduction="20000"/>
          </a:bodyPr>
          <a:lstStyle/>
          <a:p>
            <a:pPr>
              <a:buNone/>
            </a:pPr>
            <a:r>
              <a:rPr lang="zh-CN" altLang="en-US" b="1" dirty="0" smtClean="0"/>
              <a:t>信用信息管理：</a:t>
            </a:r>
            <a:endParaRPr lang="en-US" altLang="zh-CN" b="1" dirty="0" smtClean="0"/>
          </a:p>
          <a:p>
            <a:pPr>
              <a:buFont typeface="Wingdings" pitchFamily="2" charset="2"/>
              <a:buChar char="l"/>
            </a:pPr>
            <a:r>
              <a:rPr lang="zh-CN" altLang="en-US" sz="2400" dirty="0" smtClean="0"/>
              <a:t>信用信息类别设置</a:t>
            </a:r>
            <a:endParaRPr lang="en-US" altLang="zh-CN" sz="2400" dirty="0" smtClean="0"/>
          </a:p>
          <a:p>
            <a:pPr>
              <a:buNone/>
            </a:pPr>
            <a:r>
              <a:rPr lang="zh-CN" altLang="en-US" sz="2000" dirty="0" smtClean="0"/>
              <a:t>     </a:t>
            </a:r>
            <a:r>
              <a:rPr lang="zh-CN" altLang="en-US" sz="2100" dirty="0" smtClean="0"/>
              <a:t>用户可以对需要登记的经营者的信用信息的种类进行设置，如诚信信息、违法信息、举报信息、检查信息、约谈情况等。</a:t>
            </a:r>
            <a:endParaRPr lang="en-US" altLang="zh-CN" sz="2100" dirty="0" smtClean="0"/>
          </a:p>
          <a:p>
            <a:pPr>
              <a:buNone/>
            </a:pPr>
            <a:r>
              <a:rPr lang="en-US" altLang="zh-CN" sz="2100" dirty="0" smtClean="0"/>
              <a:t>	</a:t>
            </a:r>
            <a:r>
              <a:rPr lang="zh-CN" altLang="en-US" sz="2100" dirty="0" smtClean="0"/>
              <a:t>诚信信息：</a:t>
            </a:r>
            <a:r>
              <a:rPr lang="zh-CN" altLang="zh-CN" sz="2100" dirty="0" smtClean="0"/>
              <a:t>荣誉称号名称</a:t>
            </a:r>
            <a:r>
              <a:rPr lang="zh-CN" altLang="en-US" sz="2100" dirty="0" smtClean="0"/>
              <a:t>、</a:t>
            </a:r>
            <a:r>
              <a:rPr lang="zh-CN" altLang="zh-CN" sz="2100" dirty="0" smtClean="0"/>
              <a:t>荣誉称号授予机构名称</a:t>
            </a:r>
            <a:r>
              <a:rPr lang="zh-CN" altLang="en-US" sz="2100" dirty="0" smtClean="0"/>
              <a:t>、</a:t>
            </a:r>
            <a:r>
              <a:rPr lang="zh-CN" altLang="zh-CN" sz="2100" dirty="0" smtClean="0"/>
              <a:t>荣誉称号授予日期</a:t>
            </a:r>
            <a:r>
              <a:rPr lang="zh-CN" altLang="en-US" sz="2100" dirty="0" smtClean="0"/>
              <a:t>、</a:t>
            </a:r>
            <a:r>
              <a:rPr lang="zh-CN" altLang="zh-CN" sz="2100" dirty="0" smtClean="0"/>
              <a:t>荣誉称号类型</a:t>
            </a:r>
            <a:r>
              <a:rPr lang="zh-CN" altLang="en-US" sz="2100" dirty="0" smtClean="0"/>
              <a:t>、</a:t>
            </a:r>
            <a:r>
              <a:rPr lang="zh-CN" altLang="zh-CN" sz="2100" dirty="0" smtClean="0"/>
              <a:t>登记时间</a:t>
            </a:r>
            <a:r>
              <a:rPr lang="zh-CN" altLang="en-US" sz="2100" dirty="0" smtClean="0"/>
              <a:t>。</a:t>
            </a:r>
            <a:endParaRPr lang="en-US" altLang="zh-CN" sz="2100" dirty="0" smtClean="0"/>
          </a:p>
          <a:p>
            <a:pPr>
              <a:buNone/>
            </a:pPr>
            <a:r>
              <a:rPr lang="en-US" altLang="zh-CN" sz="2100" dirty="0" smtClean="0"/>
              <a:t>	</a:t>
            </a:r>
            <a:r>
              <a:rPr lang="zh-CN" altLang="en-US" sz="2100" dirty="0" smtClean="0"/>
              <a:t>违法信息：</a:t>
            </a:r>
            <a:r>
              <a:rPr lang="zh-CN" altLang="zh-CN" sz="2100" dirty="0" smtClean="0"/>
              <a:t>价格违法事实</a:t>
            </a:r>
            <a:r>
              <a:rPr lang="zh-CN" altLang="en-US" sz="2100" dirty="0" smtClean="0"/>
              <a:t>、</a:t>
            </a:r>
            <a:r>
              <a:rPr lang="zh-CN" altLang="zh-CN" sz="2100" dirty="0" smtClean="0"/>
              <a:t>处罚文号</a:t>
            </a:r>
            <a:r>
              <a:rPr lang="zh-CN" altLang="en-US" sz="2100" dirty="0" smtClean="0"/>
              <a:t>、</a:t>
            </a:r>
            <a:r>
              <a:rPr lang="zh-CN" altLang="zh-CN" sz="2100" dirty="0" smtClean="0"/>
              <a:t>处罚种类</a:t>
            </a:r>
            <a:r>
              <a:rPr lang="zh-CN" altLang="en-US" sz="2100" dirty="0" smtClean="0"/>
              <a:t>、</a:t>
            </a:r>
            <a:r>
              <a:rPr lang="zh-CN" altLang="zh-CN" sz="2100" dirty="0" smtClean="0"/>
              <a:t>处罚日期</a:t>
            </a:r>
            <a:r>
              <a:rPr lang="zh-CN" altLang="en-US" sz="2100" dirty="0" smtClean="0"/>
              <a:t>、</a:t>
            </a:r>
            <a:r>
              <a:rPr lang="zh-CN" altLang="zh-CN" sz="2100" dirty="0" smtClean="0"/>
              <a:t>处罚内容</a:t>
            </a:r>
            <a:r>
              <a:rPr lang="zh-CN" altLang="en-US" sz="2100" dirty="0" smtClean="0"/>
              <a:t>、</a:t>
            </a:r>
            <a:r>
              <a:rPr lang="zh-CN" altLang="zh-CN" sz="2100" dirty="0" smtClean="0"/>
              <a:t>处罚依据</a:t>
            </a:r>
            <a:r>
              <a:rPr lang="zh-CN" altLang="en-US" sz="2100" dirty="0" smtClean="0"/>
              <a:t>、</a:t>
            </a:r>
            <a:r>
              <a:rPr lang="zh-CN" altLang="zh-CN" sz="2100" dirty="0" smtClean="0"/>
              <a:t>处罚措施</a:t>
            </a:r>
            <a:r>
              <a:rPr lang="zh-CN" altLang="en-US" sz="2100" dirty="0" smtClean="0"/>
              <a:t>、</a:t>
            </a:r>
            <a:r>
              <a:rPr lang="zh-CN" altLang="zh-CN" sz="2100" dirty="0" smtClean="0"/>
              <a:t>处罚机构</a:t>
            </a:r>
            <a:r>
              <a:rPr lang="zh-CN" altLang="en-US" sz="2100" dirty="0" smtClean="0"/>
              <a:t>、</a:t>
            </a:r>
            <a:r>
              <a:rPr lang="zh-CN" altLang="zh-CN" sz="2100" dirty="0" smtClean="0"/>
              <a:t>整改情况</a:t>
            </a:r>
            <a:r>
              <a:rPr lang="zh-CN" altLang="en-US" sz="2100" dirty="0" smtClean="0"/>
              <a:t>、</a:t>
            </a:r>
            <a:r>
              <a:rPr lang="zh-CN" altLang="zh-CN" sz="2100" dirty="0" smtClean="0"/>
              <a:t>登记时间</a:t>
            </a:r>
            <a:r>
              <a:rPr lang="zh-CN" altLang="en-US" sz="2100" dirty="0" smtClean="0"/>
              <a:t>。</a:t>
            </a:r>
            <a:endParaRPr lang="en-US" altLang="zh-CN" sz="2100" dirty="0" smtClean="0"/>
          </a:p>
          <a:p>
            <a:pPr>
              <a:buNone/>
            </a:pPr>
            <a:r>
              <a:rPr lang="en-US" altLang="zh-CN" sz="2100" dirty="0" smtClean="0"/>
              <a:t>	</a:t>
            </a:r>
            <a:r>
              <a:rPr lang="zh-CN" altLang="en-US" sz="2100" dirty="0" smtClean="0"/>
              <a:t>检查信息：</a:t>
            </a:r>
            <a:r>
              <a:rPr lang="zh-CN" altLang="zh-CN" sz="2100" dirty="0" smtClean="0"/>
              <a:t>检查机构</a:t>
            </a:r>
            <a:r>
              <a:rPr lang="zh-CN" altLang="en-US" sz="2100" dirty="0" smtClean="0"/>
              <a:t>、</a:t>
            </a:r>
            <a:r>
              <a:rPr lang="zh-CN" altLang="zh-CN" sz="2100" dirty="0" smtClean="0"/>
              <a:t>检查人员</a:t>
            </a:r>
            <a:r>
              <a:rPr lang="zh-CN" altLang="en-US" sz="2100" dirty="0" smtClean="0"/>
              <a:t>、</a:t>
            </a:r>
            <a:r>
              <a:rPr lang="zh-CN" altLang="zh-CN" sz="2100" dirty="0" smtClean="0"/>
              <a:t>检查时间</a:t>
            </a:r>
            <a:r>
              <a:rPr lang="zh-CN" altLang="en-US" sz="2100" dirty="0" smtClean="0"/>
              <a:t>、</a:t>
            </a:r>
            <a:r>
              <a:rPr lang="zh-CN" altLang="zh-CN" sz="2100" dirty="0" smtClean="0"/>
              <a:t>检查内容</a:t>
            </a:r>
            <a:r>
              <a:rPr lang="zh-CN" altLang="en-US" sz="2100" dirty="0" smtClean="0"/>
              <a:t>、</a:t>
            </a:r>
            <a:r>
              <a:rPr lang="zh-CN" altLang="zh-CN" sz="2100" dirty="0" smtClean="0"/>
              <a:t>检查情况</a:t>
            </a:r>
            <a:r>
              <a:rPr lang="zh-CN" altLang="en-US" sz="2100" dirty="0" smtClean="0"/>
              <a:t>、</a:t>
            </a:r>
            <a:r>
              <a:rPr lang="zh-CN" altLang="zh-CN" sz="2100" dirty="0" smtClean="0"/>
              <a:t>检查类型</a:t>
            </a:r>
            <a:r>
              <a:rPr lang="zh-CN" altLang="en-US" sz="2100" dirty="0" smtClean="0"/>
              <a:t>、</a:t>
            </a:r>
            <a:r>
              <a:rPr lang="zh-CN" altLang="zh-CN" sz="2100" dirty="0" smtClean="0"/>
              <a:t>整改情况</a:t>
            </a:r>
            <a:r>
              <a:rPr lang="zh-CN" altLang="en-US" sz="2100" dirty="0" smtClean="0"/>
              <a:t>、</a:t>
            </a:r>
            <a:r>
              <a:rPr lang="zh-CN" altLang="zh-CN" sz="2100" dirty="0" smtClean="0"/>
              <a:t>登记时间</a:t>
            </a:r>
            <a:r>
              <a:rPr lang="zh-CN" altLang="en-US" sz="2100" dirty="0" smtClean="0"/>
              <a:t>。</a:t>
            </a:r>
            <a:endParaRPr lang="en-US" altLang="zh-CN" sz="2100" dirty="0" smtClean="0"/>
          </a:p>
          <a:p>
            <a:pPr>
              <a:buNone/>
            </a:pPr>
            <a:r>
              <a:rPr lang="en-US" altLang="zh-CN" sz="2100" dirty="0" smtClean="0"/>
              <a:t>	</a:t>
            </a:r>
            <a:r>
              <a:rPr lang="zh-CN" altLang="en-US" sz="2100" dirty="0" smtClean="0"/>
              <a:t>举报信息：</a:t>
            </a:r>
            <a:r>
              <a:rPr lang="zh-CN" altLang="zh-CN" sz="2100" dirty="0" smtClean="0"/>
              <a:t>举报内容</a:t>
            </a:r>
            <a:r>
              <a:rPr lang="zh-CN" altLang="en-US" sz="2100" dirty="0" smtClean="0"/>
              <a:t>、</a:t>
            </a:r>
            <a:r>
              <a:rPr lang="zh-CN" altLang="zh-CN" sz="2100" dirty="0" smtClean="0"/>
              <a:t>举报时间</a:t>
            </a:r>
            <a:r>
              <a:rPr lang="zh-CN" altLang="en-US" sz="2100" dirty="0" smtClean="0"/>
              <a:t>、</a:t>
            </a:r>
            <a:r>
              <a:rPr lang="zh-CN" altLang="zh-CN" sz="2100" dirty="0" smtClean="0"/>
              <a:t>处理情况</a:t>
            </a:r>
            <a:r>
              <a:rPr lang="zh-CN" altLang="en-US" sz="2100" dirty="0" smtClean="0"/>
              <a:t>、</a:t>
            </a:r>
            <a:r>
              <a:rPr lang="zh-CN" altLang="zh-CN" sz="2100" dirty="0" smtClean="0"/>
              <a:t>登记时间</a:t>
            </a:r>
            <a:r>
              <a:rPr lang="zh-CN" altLang="en-US" sz="2100" dirty="0" smtClean="0"/>
              <a:t>。</a:t>
            </a:r>
            <a:endParaRPr lang="en-US" altLang="zh-CN" sz="2100" dirty="0" smtClean="0"/>
          </a:p>
          <a:p>
            <a:pPr>
              <a:buNone/>
            </a:pPr>
            <a:r>
              <a:rPr lang="en-US" altLang="zh-CN" sz="2100" dirty="0" smtClean="0"/>
              <a:t>	</a:t>
            </a:r>
            <a:r>
              <a:rPr lang="zh-CN" altLang="en-US" sz="2100" dirty="0" smtClean="0"/>
              <a:t>波动信息：</a:t>
            </a:r>
            <a:r>
              <a:rPr lang="zh-CN" altLang="zh-CN" sz="2100" dirty="0" smtClean="0"/>
              <a:t>波动商品</a:t>
            </a:r>
            <a:r>
              <a:rPr lang="zh-CN" altLang="en-US" sz="2100" dirty="0" smtClean="0"/>
              <a:t>、</a:t>
            </a:r>
            <a:r>
              <a:rPr lang="zh-CN" altLang="zh-CN" sz="2100" dirty="0" smtClean="0"/>
              <a:t>异常价格</a:t>
            </a:r>
            <a:r>
              <a:rPr lang="zh-CN" altLang="en-US" sz="2100" dirty="0" smtClean="0"/>
              <a:t>、</a:t>
            </a:r>
            <a:r>
              <a:rPr lang="zh-CN" altLang="zh-CN" sz="2100" dirty="0" smtClean="0"/>
              <a:t>波动时间</a:t>
            </a:r>
            <a:r>
              <a:rPr lang="zh-CN" altLang="en-US" sz="2100" dirty="0" smtClean="0"/>
              <a:t>、</a:t>
            </a:r>
            <a:r>
              <a:rPr lang="zh-CN" altLang="zh-CN" sz="2100" dirty="0" smtClean="0"/>
              <a:t>登记时间</a:t>
            </a:r>
            <a:r>
              <a:rPr lang="zh-CN" altLang="en-US" sz="2100" dirty="0" smtClean="0"/>
              <a:t>。</a:t>
            </a:r>
            <a:endParaRPr lang="en-US" altLang="zh-CN" sz="2100" dirty="0" smtClean="0"/>
          </a:p>
          <a:p>
            <a:pPr>
              <a:buNone/>
            </a:pPr>
            <a:r>
              <a:rPr lang="en-US" altLang="zh-CN" sz="2100" dirty="0" smtClean="0"/>
              <a:t>	</a:t>
            </a:r>
            <a:r>
              <a:rPr lang="zh-CN" altLang="en-US" sz="2100" dirty="0" smtClean="0"/>
              <a:t>巡查信息：</a:t>
            </a:r>
            <a:r>
              <a:rPr lang="zh-CN" altLang="zh-CN" sz="2100" dirty="0" smtClean="0"/>
              <a:t>巡查人员</a:t>
            </a:r>
            <a:r>
              <a:rPr lang="zh-CN" altLang="en-US" sz="2100" dirty="0" smtClean="0"/>
              <a:t>、</a:t>
            </a:r>
            <a:r>
              <a:rPr lang="zh-CN" altLang="zh-CN" sz="2100" dirty="0" smtClean="0"/>
              <a:t>巡查时间</a:t>
            </a:r>
            <a:r>
              <a:rPr lang="zh-CN" altLang="en-US" sz="2100" dirty="0" smtClean="0"/>
              <a:t>、</a:t>
            </a:r>
            <a:r>
              <a:rPr lang="zh-CN" altLang="zh-CN" sz="2100" dirty="0" smtClean="0"/>
              <a:t>巡查情况</a:t>
            </a:r>
            <a:r>
              <a:rPr lang="zh-CN" altLang="en-US" sz="2100" dirty="0" smtClean="0"/>
              <a:t>、</a:t>
            </a:r>
            <a:r>
              <a:rPr lang="zh-CN" altLang="zh-CN" sz="2100" dirty="0" smtClean="0"/>
              <a:t>登记时间</a:t>
            </a:r>
            <a:r>
              <a:rPr lang="zh-CN" altLang="en-US" sz="2100" dirty="0" smtClean="0"/>
              <a:t>。</a:t>
            </a:r>
            <a:endParaRPr lang="en-US" altLang="zh-CN" sz="2100" dirty="0" smtClean="0"/>
          </a:p>
          <a:p>
            <a:pPr>
              <a:buNone/>
            </a:pPr>
            <a:r>
              <a:rPr lang="en-US" altLang="zh-CN" sz="2100" dirty="0" smtClean="0"/>
              <a:t>	</a:t>
            </a:r>
            <a:r>
              <a:rPr lang="zh-CN" altLang="en-US" sz="2100" dirty="0" smtClean="0"/>
              <a:t>配合情况（约谈情况、资料发放情况）：</a:t>
            </a:r>
            <a:r>
              <a:rPr lang="zh-CN" altLang="zh-CN" sz="2100" dirty="0" smtClean="0"/>
              <a:t>情况信息</a:t>
            </a:r>
            <a:r>
              <a:rPr lang="zh-CN" altLang="en-US" sz="2100" dirty="0" smtClean="0"/>
              <a:t>、</a:t>
            </a:r>
            <a:r>
              <a:rPr lang="zh-CN" altLang="zh-CN" sz="2100" dirty="0" smtClean="0"/>
              <a:t>登记时间</a:t>
            </a:r>
            <a:r>
              <a:rPr lang="zh-CN" altLang="en-US" sz="2100" dirty="0" smtClean="0"/>
              <a:t>。</a:t>
            </a:r>
            <a:endParaRPr lang="en-US" altLang="zh-CN" sz="2100" dirty="0" smtClean="0"/>
          </a:p>
          <a:p>
            <a:pPr>
              <a:buFont typeface="Wingdings" pitchFamily="2" charset="2"/>
              <a:buChar char="l"/>
            </a:pPr>
            <a:r>
              <a:rPr lang="zh-CN" altLang="en-US" sz="2400" dirty="0" smtClean="0"/>
              <a:t>信用信息登记</a:t>
            </a:r>
            <a:endParaRPr lang="en-US" altLang="zh-CN" sz="2400" dirty="0" smtClean="0"/>
          </a:p>
          <a:p>
            <a:pPr>
              <a:buNone/>
            </a:pPr>
            <a:r>
              <a:rPr lang="zh-CN" altLang="en-US" sz="2000" dirty="0" smtClean="0"/>
              <a:t>     用户可以对经营者的各种信用信息进行登记。</a:t>
            </a:r>
            <a:endParaRPr lang="en-US" altLang="zh-CN" sz="2000" dirty="0" smtClean="0"/>
          </a:p>
          <a:p>
            <a:pPr>
              <a:buFont typeface="Wingdings" pitchFamily="2" charset="2"/>
              <a:buChar char="l"/>
            </a:pPr>
            <a:r>
              <a:rPr lang="zh-CN" altLang="en-US" sz="2400" dirty="0" smtClean="0"/>
              <a:t>信用信息审核</a:t>
            </a:r>
            <a:endParaRPr lang="en-US" altLang="zh-CN" sz="2400" dirty="0" smtClean="0"/>
          </a:p>
          <a:p>
            <a:pPr>
              <a:buNone/>
            </a:pPr>
            <a:r>
              <a:rPr lang="zh-CN" altLang="en-US" sz="2000" dirty="0" smtClean="0"/>
              <a:t>    用户可以对登记的信用信息进行审核，只有审核通过的信用信息才能作为之后信用考核的凭借资料。</a:t>
            </a:r>
            <a:endParaRPr lang="en-US" altLang="zh-CN" sz="2000" dirty="0" smtClean="0"/>
          </a:p>
          <a:p>
            <a:pPr>
              <a:buNone/>
            </a:pPr>
            <a:endParaRPr lang="zh-CN"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4389120"/>
          </a:xfrm>
        </p:spPr>
        <p:txBody>
          <a:bodyPr/>
          <a:lstStyle/>
          <a:p>
            <a:pPr>
              <a:buNone/>
            </a:pPr>
            <a:r>
              <a:rPr lang="zh-CN" altLang="en-US" b="1" dirty="0" smtClean="0"/>
              <a:t>信用考核管理：</a:t>
            </a:r>
            <a:endParaRPr lang="en-US" altLang="zh-CN" b="1" dirty="0" smtClean="0"/>
          </a:p>
          <a:p>
            <a:pPr>
              <a:buFont typeface="Wingdings" pitchFamily="2" charset="2"/>
              <a:buChar char="l"/>
            </a:pPr>
            <a:r>
              <a:rPr lang="zh-CN" altLang="en-US" sz="2400" dirty="0" smtClean="0"/>
              <a:t>信用类别设置</a:t>
            </a:r>
            <a:endParaRPr lang="en-US" altLang="zh-CN" sz="2400" dirty="0" smtClean="0"/>
          </a:p>
          <a:p>
            <a:pPr>
              <a:buNone/>
            </a:pPr>
            <a:r>
              <a:rPr lang="zh-CN" altLang="en-US" sz="2400" dirty="0" smtClean="0"/>
              <a:t>    </a:t>
            </a:r>
            <a:r>
              <a:rPr lang="zh-CN" altLang="en-US" sz="1900" dirty="0" smtClean="0"/>
              <a:t>用户可以对经营者的所有信用类别或信用等级进行设置，并且可以对各类别对应的分数段进行设置。</a:t>
            </a:r>
            <a:endParaRPr lang="en-US" altLang="zh-CN" sz="1900" dirty="0" smtClean="0"/>
          </a:p>
          <a:p>
            <a:pPr>
              <a:buFont typeface="Wingdings" pitchFamily="2" charset="2"/>
              <a:buChar char="l"/>
            </a:pPr>
            <a:r>
              <a:rPr lang="zh-CN" altLang="en-US" sz="2400" dirty="0" smtClean="0"/>
              <a:t>考核规则设置</a:t>
            </a:r>
            <a:endParaRPr lang="en-US" altLang="zh-CN" sz="2400" dirty="0" smtClean="0"/>
          </a:p>
          <a:p>
            <a:pPr>
              <a:buNone/>
            </a:pPr>
            <a:r>
              <a:rPr lang="zh-CN" altLang="en-US" sz="2400" dirty="0" smtClean="0"/>
              <a:t>    </a:t>
            </a:r>
            <a:r>
              <a:rPr lang="zh-CN" altLang="en-US" sz="1900" dirty="0" smtClean="0"/>
              <a:t>用户可以对信用考核的扣分规则和得分规则进行设置，系统可以根据用户的信用信息和考核规则对经营者进行考核打分。</a:t>
            </a:r>
            <a:endParaRPr lang="en-US" altLang="zh-CN" sz="1900" dirty="0" smtClean="0"/>
          </a:p>
          <a:p>
            <a:pPr>
              <a:buFont typeface="Wingdings" pitchFamily="2" charset="2"/>
              <a:buChar char="l"/>
            </a:pPr>
            <a:r>
              <a:rPr lang="zh-CN" altLang="en-US" sz="2400" dirty="0" smtClean="0"/>
              <a:t>信用考核</a:t>
            </a:r>
            <a:endParaRPr lang="en-US" altLang="zh-CN" sz="2400" dirty="0" smtClean="0"/>
          </a:p>
          <a:p>
            <a:pPr>
              <a:buNone/>
            </a:pPr>
            <a:r>
              <a:rPr lang="zh-CN" altLang="en-US" sz="1900" dirty="0" smtClean="0"/>
              <a:t>    用户可以对选择的经营者进行考核，可生成考核结果。</a:t>
            </a:r>
            <a:endParaRPr lang="en-US" altLang="zh-CN" sz="1900" dirty="0" smtClean="0"/>
          </a:p>
          <a:p>
            <a:pPr>
              <a:buNone/>
            </a:pPr>
            <a:endParaRPr lang="zh-CN"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4389120"/>
          </a:xfrm>
        </p:spPr>
        <p:txBody>
          <a:bodyPr/>
          <a:lstStyle/>
          <a:p>
            <a:pPr>
              <a:buNone/>
            </a:pPr>
            <a:r>
              <a:rPr lang="zh-CN" altLang="en-US" b="1" dirty="0" smtClean="0"/>
              <a:t>信息统计：</a:t>
            </a:r>
            <a:endParaRPr lang="en-US" altLang="zh-CN" b="1" dirty="0" smtClean="0"/>
          </a:p>
          <a:p>
            <a:pPr>
              <a:buNone/>
            </a:pPr>
            <a:r>
              <a:rPr lang="zh-CN" altLang="en-US" b="1" dirty="0" smtClean="0"/>
              <a:t>    </a:t>
            </a:r>
            <a:r>
              <a:rPr lang="zh-CN" altLang="en-US" sz="2000" dirty="0" smtClean="0"/>
              <a:t>用户可以对经营者的各类信用信息进行统计，并生成对应的统计图表。</a:t>
            </a:r>
            <a:endParaRPr lang="en-US" altLang="zh-CN" sz="2000" dirty="0" smtClean="0"/>
          </a:p>
          <a:p>
            <a:pPr>
              <a:buNone/>
            </a:pPr>
            <a:endParaRPr lang="en-US" altLang="zh-CN" sz="2000" dirty="0" smtClean="0"/>
          </a:p>
          <a:p>
            <a:pPr>
              <a:buNone/>
            </a:pPr>
            <a:r>
              <a:rPr lang="zh-CN" altLang="en-US" sz="2000" dirty="0" smtClean="0"/>
              <a:t>     用户可以对各区县、各信用类型的经营者数量进行统计，并生成对应的统计图表。</a:t>
            </a:r>
            <a:endParaRPr lang="en-US" altLang="zh-CN" sz="2000" dirty="0" smtClean="0"/>
          </a:p>
          <a:p>
            <a:pPr>
              <a:buNone/>
            </a:pPr>
            <a:endParaRPr lang="zh-CN" altLang="en-US"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4389120"/>
          </a:xfrm>
        </p:spPr>
        <p:txBody>
          <a:bodyPr/>
          <a:lstStyle/>
          <a:p>
            <a:pPr>
              <a:buNone/>
            </a:pPr>
            <a:r>
              <a:rPr lang="zh-CN" altLang="en-US" b="1" dirty="0" smtClean="0"/>
              <a:t>工作考核：</a:t>
            </a:r>
            <a:endParaRPr lang="en-US" altLang="zh-CN" b="1" dirty="0" smtClean="0"/>
          </a:p>
          <a:p>
            <a:pPr>
              <a:buNone/>
            </a:pPr>
            <a:r>
              <a:rPr lang="en-US" altLang="zh-CN" sz="2000" dirty="0" smtClean="0"/>
              <a:t>     </a:t>
            </a:r>
            <a:r>
              <a:rPr lang="zh-CN" altLang="zh-CN" sz="2000" dirty="0" smtClean="0"/>
              <a:t>用户可以按照某一时间段对各区县的</a:t>
            </a:r>
            <a:r>
              <a:rPr lang="zh-CN" altLang="en-US" sz="2000" dirty="0" smtClean="0"/>
              <a:t>经营者的信用信息</a:t>
            </a:r>
            <a:r>
              <a:rPr lang="zh-CN" altLang="zh-CN" sz="2000" dirty="0" smtClean="0"/>
              <a:t>报送情况进行统计，统计结果生成汇总表，</a:t>
            </a:r>
            <a:r>
              <a:rPr lang="zh-CN" altLang="en-US" sz="2000" dirty="0" smtClean="0"/>
              <a:t>汇总表可导出</a:t>
            </a:r>
            <a:r>
              <a:rPr lang="zh-CN" altLang="zh-CN" sz="2000" dirty="0" smtClean="0"/>
              <a:t>供用户使用。</a:t>
            </a:r>
          </a:p>
          <a:p>
            <a:pPr>
              <a:buNone/>
            </a:pPr>
            <a:endParaRPr lang="zh-CN" altLang="en-US" b="1"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4389120"/>
          </a:xfrm>
        </p:spPr>
        <p:txBody>
          <a:bodyPr/>
          <a:lstStyle/>
          <a:p>
            <a:pPr>
              <a:buNone/>
            </a:pPr>
            <a:r>
              <a:rPr lang="zh-CN" altLang="en-US" b="1" dirty="0" smtClean="0"/>
              <a:t>用户管理：</a:t>
            </a:r>
            <a:endParaRPr lang="en-US" altLang="zh-CN" b="1" dirty="0" smtClean="0"/>
          </a:p>
          <a:p>
            <a:pPr>
              <a:buNone/>
            </a:pPr>
            <a:r>
              <a:rPr lang="zh-CN" altLang="en-US" b="1" dirty="0" smtClean="0"/>
              <a:t>   </a:t>
            </a:r>
            <a:r>
              <a:rPr lang="zh-CN" altLang="en-US" sz="1900" dirty="0" smtClean="0"/>
              <a:t>可以对用户进行管理，增加、删除、修改用户。</a:t>
            </a:r>
            <a:endParaRPr lang="en-US" altLang="zh-CN" sz="1900" dirty="0" smtClean="0"/>
          </a:p>
          <a:p>
            <a:pPr>
              <a:buNone/>
            </a:pPr>
            <a:endParaRPr lang="en-US" altLang="zh-CN" sz="1900" dirty="0" smtClean="0"/>
          </a:p>
          <a:p>
            <a:pPr>
              <a:buNone/>
            </a:pPr>
            <a:r>
              <a:rPr lang="zh-CN" altLang="en-US" sz="1900" dirty="0" smtClean="0"/>
              <a:t>    可以对用户的权限进行管理，不同的权限在本系统中看到的内容不同。</a:t>
            </a:r>
            <a:endParaRPr lang="en-US" altLang="zh-CN" sz="1900" dirty="0" smtClean="0"/>
          </a:p>
          <a:p>
            <a:pPr>
              <a:buNone/>
            </a:pPr>
            <a:endParaRPr lang="en-US" altLang="zh-CN" sz="1900" dirty="0" smtClean="0"/>
          </a:p>
          <a:p>
            <a:pPr>
              <a:buNone/>
            </a:pPr>
            <a:r>
              <a:rPr lang="zh-CN" altLang="en-US" sz="1900" dirty="0" smtClean="0"/>
              <a:t>    可以对用户的操作记录进行查看，系统会保存用户的所有增加、删除、修改、查看记录。</a:t>
            </a:r>
            <a:endParaRPr lang="zh-CN" altLang="en-US" sz="19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buNone/>
            </a:pPr>
            <a:r>
              <a:rPr lang="zh-CN" altLang="en-US" b="1" dirty="0" smtClean="0"/>
              <a:t>功能概述：</a:t>
            </a:r>
            <a:endParaRPr lang="en-US" altLang="zh-CN" b="1" dirty="0" smtClean="0"/>
          </a:p>
          <a:p>
            <a:pPr>
              <a:buNone/>
            </a:pPr>
            <a:r>
              <a:rPr lang="en-US" altLang="zh-CN" b="1" dirty="0" smtClean="0"/>
              <a:t>	</a:t>
            </a:r>
            <a:r>
              <a:rPr lang="zh-CN" altLang="en-US" dirty="0" smtClean="0"/>
              <a:t>本系统主要用来收集商品的每日价格，并对其进行数据分析，从而获得商品价格的波动情况，方便向公众公告或向领导汇报。</a:t>
            </a:r>
            <a:endParaRPr lang="zh-CN" altLang="en-US" dirty="0"/>
          </a:p>
        </p:txBody>
      </p:sp>
      <p:sp>
        <p:nvSpPr>
          <p:cNvPr id="4" name="标题 1"/>
          <p:cNvSpPr>
            <a:spLocks noGrp="1"/>
          </p:cNvSpPr>
          <p:nvPr>
            <p:ph type="title"/>
          </p:nvPr>
        </p:nvSpPr>
        <p:spPr/>
        <p:txBody>
          <a:bodyPr/>
          <a:lstStyle/>
          <a:p>
            <a:r>
              <a:rPr lang="zh-CN" altLang="en-US" dirty="0" smtClean="0"/>
              <a:t>价格监测预警系统</a:t>
            </a:r>
            <a:endParaRPr lang="zh-CN"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价格监测预警系统</a:t>
            </a:r>
            <a:endParaRPr lang="zh-CN" altLang="en-US" dirty="0"/>
          </a:p>
        </p:txBody>
      </p:sp>
      <p:sp>
        <p:nvSpPr>
          <p:cNvPr id="3" name="内容占位符 2"/>
          <p:cNvSpPr>
            <a:spLocks noGrp="1"/>
          </p:cNvSpPr>
          <p:nvPr>
            <p:ph idx="1"/>
          </p:nvPr>
        </p:nvSpPr>
        <p:spPr/>
        <p:txBody>
          <a:bodyPr/>
          <a:lstStyle/>
          <a:p>
            <a:r>
              <a:rPr lang="zh-CN" altLang="en-US" dirty="0" smtClean="0"/>
              <a:t>商品设置</a:t>
            </a:r>
            <a:endParaRPr lang="en-US" altLang="zh-CN" dirty="0" smtClean="0"/>
          </a:p>
          <a:p>
            <a:r>
              <a:rPr lang="zh-CN" altLang="en-US" dirty="0" smtClean="0"/>
              <a:t>数据上报</a:t>
            </a:r>
            <a:endParaRPr lang="en-US" altLang="zh-CN" dirty="0" smtClean="0"/>
          </a:p>
          <a:p>
            <a:r>
              <a:rPr lang="zh-CN" altLang="en-US" dirty="0" smtClean="0"/>
              <a:t>数据比较</a:t>
            </a:r>
            <a:endParaRPr lang="en-US" altLang="zh-CN" dirty="0" smtClean="0"/>
          </a:p>
          <a:p>
            <a:r>
              <a:rPr lang="zh-CN" altLang="en-US" dirty="0" smtClean="0"/>
              <a:t>数据分析</a:t>
            </a:r>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08720"/>
            <a:ext cx="8229600" cy="4389120"/>
          </a:xfrm>
        </p:spPr>
        <p:txBody>
          <a:bodyPr/>
          <a:lstStyle/>
          <a:p>
            <a:pPr>
              <a:buNone/>
            </a:pPr>
            <a:r>
              <a:rPr lang="zh-CN" altLang="en-US" b="1" dirty="0" smtClean="0"/>
              <a:t>商品价格上报流程：</a:t>
            </a:r>
            <a:endParaRPr lang="en-US" altLang="zh-CN" b="1" dirty="0" smtClean="0"/>
          </a:p>
          <a:p>
            <a:pPr>
              <a:buNone/>
            </a:pPr>
            <a:endParaRPr lang="zh-CN" altLang="en-US" dirty="0"/>
          </a:p>
        </p:txBody>
      </p:sp>
      <p:pic>
        <p:nvPicPr>
          <p:cNvPr id="4099" name="Picture 3"/>
          <p:cNvPicPr>
            <a:picLocks noChangeAspect="1" noChangeArrowheads="1"/>
          </p:cNvPicPr>
          <p:nvPr/>
        </p:nvPicPr>
        <p:blipFill>
          <a:blip r:embed="rId2" cstate="print"/>
          <a:srcRect/>
          <a:stretch>
            <a:fillRect/>
          </a:stretch>
        </p:blipFill>
        <p:spPr bwMode="auto">
          <a:xfrm>
            <a:off x="2114550" y="1752600"/>
            <a:ext cx="4914900" cy="3352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4389120"/>
          </a:xfrm>
        </p:spPr>
        <p:txBody>
          <a:bodyPr/>
          <a:lstStyle/>
          <a:p>
            <a:pPr>
              <a:buNone/>
            </a:pPr>
            <a:r>
              <a:rPr lang="zh-CN" altLang="en-US" b="1" dirty="0" smtClean="0"/>
              <a:t>商品设置：</a:t>
            </a:r>
            <a:endParaRPr lang="en-US" altLang="zh-CN" b="1" dirty="0" smtClean="0"/>
          </a:p>
          <a:p>
            <a:pPr>
              <a:buNone/>
            </a:pPr>
            <a:r>
              <a:rPr lang="zh-CN" altLang="en-US" dirty="0" smtClean="0"/>
              <a:t>    </a:t>
            </a:r>
            <a:r>
              <a:rPr lang="zh-CN" altLang="en-US" sz="1900" dirty="0" smtClean="0"/>
              <a:t>用户可以对上报价格的商品进行设置。</a:t>
            </a:r>
            <a:endParaRPr lang="en-US" altLang="zh-CN" sz="1900" dirty="0" smtClean="0"/>
          </a:p>
          <a:p>
            <a:pPr>
              <a:buNone/>
            </a:pPr>
            <a:endParaRPr lang="en-US" altLang="zh-CN" sz="1900" dirty="0" smtClean="0"/>
          </a:p>
          <a:p>
            <a:pPr>
              <a:buNone/>
            </a:pPr>
            <a:r>
              <a:rPr lang="zh-CN" altLang="en-US" sz="1900" dirty="0" smtClean="0"/>
              <a:t>     用户也可以直接设置某一个商品大类进行上报，如此用户在上报价格时则上报该类所有商品的价格。</a:t>
            </a:r>
            <a:endParaRPr lang="en-US" altLang="zh-CN" sz="1900" dirty="0" smtClean="0"/>
          </a:p>
          <a:p>
            <a:pPr>
              <a:buNone/>
            </a:pPr>
            <a:endParaRPr lang="en-US" altLang="zh-CN" sz="1900" dirty="0" smtClean="0"/>
          </a:p>
          <a:p>
            <a:pPr>
              <a:buNone/>
            </a:pPr>
            <a:r>
              <a:rPr lang="zh-CN" altLang="en-US" sz="1900" dirty="0" smtClean="0"/>
              <a:t>     商品信息：</a:t>
            </a:r>
            <a:r>
              <a:rPr lang="zh-CN" altLang="zh-CN" sz="1900" dirty="0" smtClean="0"/>
              <a:t>商品名称</a:t>
            </a:r>
            <a:r>
              <a:rPr lang="zh-CN" altLang="en-US" sz="1900" dirty="0" smtClean="0"/>
              <a:t>、</a:t>
            </a:r>
            <a:r>
              <a:rPr lang="zh-CN" altLang="zh-CN" sz="1900" dirty="0" smtClean="0"/>
              <a:t>商品类别</a:t>
            </a:r>
            <a:r>
              <a:rPr lang="zh-CN" altLang="en-US" sz="1900" dirty="0" smtClean="0"/>
              <a:t>、</a:t>
            </a:r>
            <a:r>
              <a:rPr lang="zh-CN" altLang="zh-CN" sz="1900" dirty="0" smtClean="0"/>
              <a:t>商品品牌</a:t>
            </a:r>
            <a:r>
              <a:rPr lang="zh-CN" altLang="en-US" sz="1900" dirty="0" smtClean="0"/>
              <a:t>、</a:t>
            </a:r>
            <a:r>
              <a:rPr lang="zh-CN" altLang="zh-CN" sz="1900" dirty="0" smtClean="0"/>
              <a:t>商品规格</a:t>
            </a:r>
            <a:r>
              <a:rPr lang="zh-CN" altLang="en-US" sz="1900" dirty="0" smtClean="0"/>
              <a:t>、</a:t>
            </a:r>
            <a:r>
              <a:rPr lang="zh-CN" altLang="zh-CN" sz="1900" dirty="0" smtClean="0"/>
              <a:t>计价单位</a:t>
            </a:r>
            <a:r>
              <a:rPr lang="zh-CN" altLang="en-US" sz="1900" dirty="0" smtClean="0"/>
              <a:t>、</a:t>
            </a:r>
            <a:r>
              <a:rPr lang="zh-CN" altLang="zh-CN" sz="1900" dirty="0" smtClean="0"/>
              <a:t>商品条码</a:t>
            </a:r>
            <a:r>
              <a:rPr lang="zh-CN" altLang="en-US" sz="1900" dirty="0" smtClean="0"/>
              <a:t>、</a:t>
            </a:r>
            <a:r>
              <a:rPr lang="zh-CN" altLang="zh-CN" sz="1900" dirty="0" smtClean="0"/>
              <a:t>生产企业</a:t>
            </a:r>
            <a:r>
              <a:rPr lang="zh-CN" altLang="en-US" sz="1900" dirty="0" smtClean="0"/>
              <a:t>、</a:t>
            </a:r>
            <a:r>
              <a:rPr lang="zh-CN" altLang="zh-CN" sz="1900" dirty="0" smtClean="0"/>
              <a:t>商品产地</a:t>
            </a:r>
            <a:r>
              <a:rPr lang="zh-CN" altLang="en-US" sz="1900" dirty="0" smtClean="0"/>
              <a:t>、</a:t>
            </a:r>
            <a:r>
              <a:rPr lang="zh-CN" altLang="zh-CN" sz="1900" dirty="0" smtClean="0"/>
              <a:t>商品备注</a:t>
            </a:r>
            <a:r>
              <a:rPr lang="zh-CN" altLang="en-US" sz="1900" dirty="0" smtClean="0"/>
              <a:t>。</a:t>
            </a:r>
            <a:endParaRPr lang="zh-CN" altLang="en-US" sz="19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4389120"/>
          </a:xfrm>
        </p:spPr>
        <p:txBody>
          <a:bodyPr/>
          <a:lstStyle/>
          <a:p>
            <a:pPr>
              <a:buNone/>
            </a:pPr>
            <a:r>
              <a:rPr lang="zh-CN" altLang="en-US" b="1" dirty="0" smtClean="0"/>
              <a:t>数据上报：</a:t>
            </a:r>
            <a:endParaRPr lang="en-US" altLang="zh-CN" b="1" dirty="0" smtClean="0"/>
          </a:p>
          <a:p>
            <a:pPr>
              <a:buNone/>
            </a:pPr>
            <a:r>
              <a:rPr lang="en-US" altLang="zh-CN" dirty="0" smtClean="0"/>
              <a:t>   </a:t>
            </a:r>
            <a:r>
              <a:rPr lang="zh-CN" altLang="zh-CN" sz="1900" dirty="0" smtClean="0"/>
              <a:t>用户可以通过数据导入的形式，按照设置的上报商品，将要上报的数据导入系统中。</a:t>
            </a:r>
            <a:endParaRPr lang="en-US" altLang="zh-CN" sz="1900" dirty="0" smtClean="0"/>
          </a:p>
          <a:p>
            <a:pPr>
              <a:buNone/>
            </a:pPr>
            <a:endParaRPr lang="zh-CN" altLang="zh-CN" sz="1900" dirty="0" smtClean="0"/>
          </a:p>
          <a:p>
            <a:pPr>
              <a:buNone/>
            </a:pPr>
            <a:r>
              <a:rPr lang="en-US" altLang="zh-CN" sz="1900" dirty="0" smtClean="0"/>
              <a:t>    </a:t>
            </a:r>
            <a:r>
              <a:rPr lang="zh-CN" altLang="zh-CN" sz="1900" dirty="0" smtClean="0"/>
              <a:t>系统可以按照设置的上报商品获得其指定的网上商店的价格。</a:t>
            </a:r>
          </a:p>
          <a:p>
            <a:pPr>
              <a:buNone/>
            </a:pPr>
            <a:endParaRPr lang="zh-CN" altLang="en-US" b="1"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4389120"/>
          </a:xfrm>
        </p:spPr>
        <p:txBody>
          <a:bodyPr/>
          <a:lstStyle/>
          <a:p>
            <a:pPr>
              <a:buNone/>
            </a:pPr>
            <a:r>
              <a:rPr lang="zh-CN" altLang="en-US" b="1" dirty="0" smtClean="0"/>
              <a:t>数据比较：</a:t>
            </a:r>
            <a:endParaRPr lang="en-US" altLang="zh-CN" b="1" dirty="0" smtClean="0"/>
          </a:p>
          <a:p>
            <a:pPr>
              <a:buNone/>
            </a:pPr>
            <a:r>
              <a:rPr lang="en-US" altLang="zh-CN" sz="1900" dirty="0" smtClean="0"/>
              <a:t>	</a:t>
            </a:r>
            <a:r>
              <a:rPr lang="zh-CN" altLang="zh-CN" sz="1900" dirty="0" smtClean="0"/>
              <a:t>用户可以对数据比较的方式进行设置。</a:t>
            </a:r>
            <a:endParaRPr lang="en-US" altLang="zh-CN" sz="1900" dirty="0" smtClean="0"/>
          </a:p>
          <a:p>
            <a:pPr>
              <a:buNone/>
            </a:pPr>
            <a:endParaRPr lang="zh-CN" altLang="zh-CN" sz="1900" dirty="0" smtClean="0"/>
          </a:p>
          <a:p>
            <a:pPr>
              <a:buNone/>
            </a:pPr>
            <a:r>
              <a:rPr lang="en-US" altLang="zh-CN" sz="1900" dirty="0" smtClean="0"/>
              <a:t>	</a:t>
            </a:r>
            <a:r>
              <a:rPr lang="zh-CN" altLang="zh-CN" sz="1900" dirty="0" smtClean="0"/>
              <a:t>用户可以将上报的数据按照指定方式进行比较。</a:t>
            </a:r>
            <a:endParaRPr lang="en-US" altLang="zh-CN" sz="1900" dirty="0" smtClean="0"/>
          </a:p>
          <a:p>
            <a:pPr>
              <a:buNone/>
            </a:pPr>
            <a:endParaRPr lang="zh-CN" altLang="zh-CN" sz="1900" dirty="0" smtClean="0"/>
          </a:p>
          <a:p>
            <a:pPr>
              <a:buNone/>
            </a:pPr>
            <a:r>
              <a:rPr lang="en-US" altLang="zh-CN" sz="1900" dirty="0" smtClean="0"/>
              <a:t>	</a:t>
            </a:r>
            <a:r>
              <a:rPr lang="zh-CN" altLang="zh-CN" sz="1900" dirty="0" smtClean="0"/>
              <a:t>用户可以将网上商店的价格数据与实体店的价格数据进行比较。</a:t>
            </a:r>
            <a:endParaRPr lang="en-US" altLang="zh-CN" sz="1900" dirty="0" smtClean="0"/>
          </a:p>
          <a:p>
            <a:pPr>
              <a:buNone/>
            </a:pPr>
            <a:endParaRPr lang="zh-CN" altLang="zh-CN" sz="1900" dirty="0" smtClean="0"/>
          </a:p>
          <a:p>
            <a:pPr>
              <a:buNone/>
            </a:pPr>
            <a:r>
              <a:rPr lang="en-US" altLang="zh-CN" sz="1900" dirty="0" smtClean="0"/>
              <a:t>	</a:t>
            </a:r>
            <a:r>
              <a:rPr lang="zh-CN" altLang="zh-CN" sz="1900" dirty="0" smtClean="0"/>
              <a:t>用户可以对各个商品的价格警戒线进行设置。</a:t>
            </a:r>
          </a:p>
          <a:p>
            <a:pPr>
              <a:buNone/>
            </a:pPr>
            <a:endParaRPr lang="zh-CN" altLang="en-US" b="1"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5544616"/>
          </a:xfrm>
        </p:spPr>
        <p:txBody>
          <a:bodyPr>
            <a:normAutofit/>
          </a:bodyPr>
          <a:lstStyle/>
          <a:p>
            <a:pPr>
              <a:buNone/>
            </a:pPr>
            <a:r>
              <a:rPr lang="zh-CN" altLang="en-US" b="1" dirty="0" smtClean="0"/>
              <a:t>数据分析：</a:t>
            </a:r>
            <a:endParaRPr lang="en-US" altLang="zh-CN" b="1" dirty="0" smtClean="0"/>
          </a:p>
          <a:p>
            <a:pPr>
              <a:buNone/>
            </a:pPr>
            <a:r>
              <a:rPr lang="en-US" altLang="zh-CN" sz="1900" dirty="0" smtClean="0"/>
              <a:t>	</a:t>
            </a:r>
            <a:r>
              <a:rPr lang="zh-CN" altLang="zh-CN" sz="1900" dirty="0" smtClean="0"/>
              <a:t>用户可以设置多个价格指数。</a:t>
            </a:r>
            <a:endParaRPr lang="en-US" altLang="zh-CN" sz="1900" dirty="0" smtClean="0"/>
          </a:p>
          <a:p>
            <a:pPr>
              <a:buNone/>
            </a:pPr>
            <a:endParaRPr lang="zh-CN" altLang="zh-CN" sz="1900" dirty="0" smtClean="0"/>
          </a:p>
          <a:p>
            <a:pPr>
              <a:buNone/>
            </a:pPr>
            <a:r>
              <a:rPr lang="en-US" altLang="zh-CN" sz="1900" dirty="0" smtClean="0"/>
              <a:t>	</a:t>
            </a:r>
            <a:r>
              <a:rPr lang="zh-CN" altLang="zh-CN" sz="1900" dirty="0" smtClean="0"/>
              <a:t>各类商品的价格指数可以通过各种商品在本类别中所占的消费比重自动生成。</a:t>
            </a:r>
            <a:endParaRPr lang="en-US" altLang="zh-CN" sz="1900" dirty="0" smtClean="0"/>
          </a:p>
          <a:p>
            <a:pPr>
              <a:buNone/>
            </a:pPr>
            <a:endParaRPr lang="zh-CN" altLang="zh-CN" sz="1900" dirty="0" smtClean="0"/>
          </a:p>
          <a:p>
            <a:pPr>
              <a:buNone/>
            </a:pPr>
            <a:r>
              <a:rPr lang="en-US" altLang="zh-CN" sz="1900" dirty="0" smtClean="0"/>
              <a:t>	</a:t>
            </a:r>
            <a:r>
              <a:rPr lang="zh-CN" altLang="zh-CN" sz="1900" dirty="0" smtClean="0"/>
              <a:t>用户可以选择指定的价格指数生成对应数据。</a:t>
            </a:r>
            <a:endParaRPr lang="en-US" altLang="zh-CN" sz="1900" dirty="0" smtClean="0"/>
          </a:p>
          <a:p>
            <a:pPr>
              <a:buNone/>
            </a:pPr>
            <a:endParaRPr lang="zh-CN" altLang="zh-CN" sz="1900" dirty="0" smtClean="0"/>
          </a:p>
          <a:p>
            <a:pPr>
              <a:buNone/>
            </a:pPr>
            <a:r>
              <a:rPr lang="en-US" altLang="zh-CN" sz="1900" dirty="0" smtClean="0"/>
              <a:t>	</a:t>
            </a:r>
            <a:r>
              <a:rPr lang="zh-CN" altLang="zh-CN" sz="1900" dirty="0" smtClean="0"/>
              <a:t>用户可以自定义商品价格统计表模板，系统可以</a:t>
            </a:r>
            <a:r>
              <a:rPr lang="zh-CN" altLang="en-US" sz="1900" dirty="0" smtClean="0"/>
              <a:t>根据</a:t>
            </a:r>
            <a:r>
              <a:rPr lang="zh-CN" altLang="zh-CN" sz="1900" dirty="0" smtClean="0"/>
              <a:t>用户设置的模板生成对应商品的价格统计表。</a:t>
            </a:r>
            <a:endParaRPr lang="en-US" altLang="zh-CN" sz="1900" dirty="0" smtClean="0"/>
          </a:p>
          <a:p>
            <a:pPr>
              <a:buNone/>
            </a:pPr>
            <a:endParaRPr lang="zh-CN" altLang="zh-CN" sz="1900" dirty="0" smtClean="0"/>
          </a:p>
          <a:p>
            <a:pPr>
              <a:buNone/>
            </a:pPr>
            <a:r>
              <a:rPr lang="en-US" altLang="zh-CN" sz="1900" dirty="0" smtClean="0"/>
              <a:t>	</a:t>
            </a:r>
            <a:r>
              <a:rPr lang="zh-CN" altLang="zh-CN" sz="1900" dirty="0" smtClean="0"/>
              <a:t>用户可以根据自己的需要设置价格分析报表的生成方式，系统可以根据用户的设置自动生成用户所选商品对应的价格分析报表。</a:t>
            </a:r>
          </a:p>
          <a:p>
            <a:pPr>
              <a:buNone/>
            </a:pPr>
            <a:endParaRPr lang="zh-CN" altLang="en-US" b="1"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buNone/>
            </a:pPr>
            <a:r>
              <a:rPr lang="zh-CN" altLang="en-US" b="1" dirty="0" smtClean="0"/>
              <a:t>功能概述：</a:t>
            </a:r>
            <a:endParaRPr lang="en-US" altLang="zh-CN" b="1" dirty="0" smtClean="0"/>
          </a:p>
          <a:p>
            <a:pPr>
              <a:buNone/>
            </a:pPr>
            <a:r>
              <a:rPr lang="en-US" altLang="zh-CN" b="1" dirty="0" smtClean="0"/>
              <a:t>	</a:t>
            </a:r>
            <a:r>
              <a:rPr lang="zh-CN" altLang="en-US" dirty="0" smtClean="0"/>
              <a:t>本系统主要用来将信用库及预警平台与电子地图相结合，将经营者的信用情况和分布情况展现在地图上，方便执法人员进行工作和对下属执法人员的管理。</a:t>
            </a:r>
            <a:endParaRPr lang="zh-CN" altLang="en-US" dirty="0"/>
          </a:p>
        </p:txBody>
      </p:sp>
      <p:sp>
        <p:nvSpPr>
          <p:cNvPr id="4" name="标题 1"/>
          <p:cNvSpPr>
            <a:spLocks noGrp="1"/>
          </p:cNvSpPr>
          <p:nvPr>
            <p:ph type="title"/>
          </p:nvPr>
        </p:nvSpPr>
        <p:spPr/>
        <p:txBody>
          <a:bodyPr/>
          <a:lstStyle/>
          <a:p>
            <a:r>
              <a:rPr lang="zh-CN" altLang="en-US" dirty="0" smtClean="0"/>
              <a:t>价格地理信息平台</a:t>
            </a:r>
            <a:endParaRPr lang="zh-CN" alt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价格地理信息平台</a:t>
            </a:r>
            <a:endParaRPr lang="zh-CN" altLang="en-US" dirty="0"/>
          </a:p>
        </p:txBody>
      </p:sp>
      <p:sp>
        <p:nvSpPr>
          <p:cNvPr id="3" name="内容占位符 2"/>
          <p:cNvSpPr>
            <a:spLocks noGrp="1"/>
          </p:cNvSpPr>
          <p:nvPr>
            <p:ph idx="1"/>
          </p:nvPr>
        </p:nvSpPr>
        <p:spPr/>
        <p:txBody>
          <a:bodyPr/>
          <a:lstStyle/>
          <a:p>
            <a:r>
              <a:rPr lang="zh-CN" altLang="en-US" dirty="0" smtClean="0"/>
              <a:t>商圈设置</a:t>
            </a:r>
            <a:endParaRPr lang="en-US" altLang="zh-CN" dirty="0" smtClean="0"/>
          </a:p>
          <a:p>
            <a:r>
              <a:rPr lang="zh-CN" altLang="en-US" dirty="0" smtClean="0"/>
              <a:t>商圈管理</a:t>
            </a:r>
            <a:endParaRPr lang="en-US" altLang="zh-CN" dirty="0" smtClean="0"/>
          </a:p>
          <a:p>
            <a:r>
              <a:rPr lang="zh-CN" altLang="en-US" dirty="0" smtClean="0"/>
              <a:t>信息显示</a:t>
            </a:r>
            <a:endParaRPr lang="en-US" altLang="zh-CN" dirty="0" smtClean="0"/>
          </a:p>
          <a:p>
            <a:r>
              <a:rPr lang="zh-CN" altLang="en-US" dirty="0" smtClean="0"/>
              <a:t>人员管理</a:t>
            </a:r>
            <a:endParaRPr lang="zh-CN" alt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176422" cy="1591586"/>
          </a:xfrm>
        </p:spPr>
        <p:txBody>
          <a:bodyPr>
            <a:normAutofit lnSpcReduction="10000"/>
          </a:bodyPr>
          <a:lstStyle/>
          <a:p>
            <a:pPr>
              <a:buNone/>
            </a:pPr>
            <a:r>
              <a:rPr lang="zh-CN" altLang="en-US" b="1" dirty="0" smtClean="0"/>
              <a:t>商圈设置：</a:t>
            </a:r>
            <a:endParaRPr lang="en-US" altLang="zh-CN" b="1" dirty="0" smtClean="0"/>
          </a:p>
          <a:p>
            <a:pPr>
              <a:buNone/>
            </a:pPr>
            <a:endParaRPr lang="en-US" altLang="zh-CN" b="1" dirty="0" smtClean="0"/>
          </a:p>
          <a:p>
            <a:pPr>
              <a:buNone/>
            </a:pPr>
            <a:r>
              <a:rPr lang="en-US" altLang="zh-CN" sz="1900" dirty="0" smtClean="0"/>
              <a:t>	</a:t>
            </a:r>
            <a:r>
              <a:rPr lang="zh-CN" altLang="zh-CN" sz="1900" dirty="0" smtClean="0"/>
              <a:t>用户可以对商圈的名称及范围进行设置。</a:t>
            </a:r>
          </a:p>
          <a:p>
            <a:pPr>
              <a:buNone/>
            </a:pPr>
            <a:r>
              <a:rPr lang="en-US" altLang="zh-CN" sz="1900" dirty="0" smtClean="0"/>
              <a:t>	</a:t>
            </a:r>
            <a:r>
              <a:rPr lang="zh-CN" altLang="zh-CN" sz="1900" dirty="0" smtClean="0"/>
              <a:t>用户设置的商圈范围只能够呈圆形或线形。</a:t>
            </a:r>
            <a:endParaRPr lang="zh-CN" altLang="en-US" b="1" dirty="0"/>
          </a:p>
        </p:txBody>
      </p:sp>
      <p:pic>
        <p:nvPicPr>
          <p:cNvPr id="1026" name="Picture 2"/>
          <p:cNvPicPr>
            <a:picLocks noChangeAspect="1" noChangeArrowheads="1"/>
          </p:cNvPicPr>
          <p:nvPr/>
        </p:nvPicPr>
        <p:blipFill>
          <a:blip r:embed="rId2"/>
          <a:srcRect/>
          <a:stretch>
            <a:fillRect/>
          </a:stretch>
        </p:blipFill>
        <p:spPr bwMode="auto">
          <a:xfrm>
            <a:off x="1000100" y="3429000"/>
            <a:ext cx="4143375" cy="2390775"/>
          </a:xfrm>
          <a:prstGeom prst="rect">
            <a:avLst/>
          </a:prstGeom>
          <a:noFill/>
          <a:ln w="9525">
            <a:noFill/>
            <a:miter lim="800000"/>
            <a:headEnd/>
            <a:tailEnd/>
          </a:ln>
          <a:effectLst/>
        </p:spPr>
      </p:pic>
      <p:sp>
        <p:nvSpPr>
          <p:cNvPr id="4" name="矩形 3"/>
          <p:cNvSpPr/>
          <p:nvPr/>
        </p:nvSpPr>
        <p:spPr>
          <a:xfrm>
            <a:off x="785786" y="2928934"/>
            <a:ext cx="2161169" cy="369332"/>
          </a:xfrm>
          <a:prstGeom prst="rect">
            <a:avLst/>
          </a:prstGeom>
        </p:spPr>
        <p:txBody>
          <a:bodyPr wrap="none">
            <a:spAutoFit/>
          </a:bodyPr>
          <a:lstStyle/>
          <a:p>
            <a:r>
              <a:rPr lang="en-US" altLang="zh-CN" b="1" dirty="0" smtClean="0">
                <a:latin typeface="仿宋" pitchFamily="49" charset="-122"/>
                <a:ea typeface="仿宋" pitchFamily="49" charset="-122"/>
              </a:rPr>
              <a:t>1</a:t>
            </a:r>
            <a:r>
              <a:rPr lang="zh-CN" altLang="en-US" b="1" dirty="0" smtClean="0">
                <a:latin typeface="仿宋" pitchFamily="49" charset="-122"/>
                <a:ea typeface="仿宋" pitchFamily="49" charset="-122"/>
              </a:rPr>
              <a:t>设置商圈基本信息</a:t>
            </a:r>
            <a:endParaRPr lang="zh-CN" altLang="en-US" b="1" dirty="0">
              <a:latin typeface="仿宋" pitchFamily="49" charset="-122"/>
              <a:ea typeface="仿宋" pitchFamily="49"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a:spLocks noGrp="1"/>
          </p:cNvSpPr>
          <p:nvPr>
            <p:ph idx="1"/>
          </p:nvPr>
        </p:nvSpPr>
        <p:spPr>
          <a:xfrm>
            <a:off x="467544" y="908720"/>
            <a:ext cx="8229600" cy="4389120"/>
          </a:xfrm>
        </p:spPr>
        <p:txBody>
          <a:bodyPr/>
          <a:lstStyle/>
          <a:p>
            <a:pPr>
              <a:buNone/>
            </a:pPr>
            <a:r>
              <a:rPr lang="zh-CN" altLang="en-US" b="1" dirty="0" smtClean="0"/>
              <a:t>商圈设置：</a:t>
            </a:r>
            <a:endParaRPr lang="en-US" altLang="zh-CN" b="1" dirty="0" smtClean="0"/>
          </a:p>
          <a:p>
            <a:pPr>
              <a:buNone/>
            </a:pPr>
            <a:r>
              <a:rPr lang="en-US" altLang="zh-CN" sz="1900" dirty="0" smtClean="0"/>
              <a:t>	</a:t>
            </a:r>
            <a:endParaRPr lang="zh-CN" altLang="en-US" b="1" dirty="0"/>
          </a:p>
        </p:txBody>
      </p:sp>
      <p:sp>
        <p:nvSpPr>
          <p:cNvPr id="11" name="矩形 10"/>
          <p:cNvSpPr/>
          <p:nvPr/>
        </p:nvSpPr>
        <p:spPr>
          <a:xfrm>
            <a:off x="714348" y="1714488"/>
            <a:ext cx="2278188" cy="369332"/>
          </a:xfrm>
          <a:prstGeom prst="rect">
            <a:avLst/>
          </a:prstGeom>
        </p:spPr>
        <p:txBody>
          <a:bodyPr wrap="none">
            <a:spAutoFit/>
          </a:bodyPr>
          <a:lstStyle/>
          <a:p>
            <a:r>
              <a:rPr lang="en-US" altLang="zh-CN" b="1" dirty="0" smtClean="0">
                <a:latin typeface="仿宋" pitchFamily="49" charset="-122"/>
                <a:ea typeface="仿宋" pitchFamily="49" charset="-122"/>
              </a:rPr>
              <a:t>2 </a:t>
            </a:r>
            <a:r>
              <a:rPr lang="zh-CN" altLang="en-US" b="1" dirty="0" smtClean="0">
                <a:latin typeface="仿宋" pitchFamily="49" charset="-122"/>
                <a:ea typeface="仿宋" pitchFamily="49" charset="-122"/>
              </a:rPr>
              <a:t>设置商圈地图范围</a:t>
            </a:r>
            <a:endParaRPr lang="zh-CN" altLang="en-US" b="1" dirty="0">
              <a:latin typeface="仿宋" pitchFamily="49" charset="-122"/>
              <a:ea typeface="仿宋" pitchFamily="49" charset="-122"/>
            </a:endParaRPr>
          </a:p>
        </p:txBody>
      </p:sp>
      <p:pic>
        <p:nvPicPr>
          <p:cNvPr id="1026" name="Picture 2"/>
          <p:cNvPicPr>
            <a:picLocks noChangeAspect="1" noChangeArrowheads="1"/>
          </p:cNvPicPr>
          <p:nvPr/>
        </p:nvPicPr>
        <p:blipFill>
          <a:blip r:embed="rId2"/>
          <a:srcRect/>
          <a:stretch>
            <a:fillRect/>
          </a:stretch>
        </p:blipFill>
        <p:spPr bwMode="auto">
          <a:xfrm>
            <a:off x="785786" y="2071678"/>
            <a:ext cx="7715304" cy="4291001"/>
          </a:xfrm>
          <a:prstGeom prst="rect">
            <a:avLst/>
          </a:prstGeom>
          <a:noFill/>
          <a:ln w="9525">
            <a:noFill/>
            <a:miter lim="800000"/>
            <a:headEnd/>
            <a:tailEnd/>
          </a:ln>
          <a:effectLst/>
        </p:spPr>
      </p:pic>
      <p:pic>
        <p:nvPicPr>
          <p:cNvPr id="2052" name="Picture 4"/>
          <p:cNvPicPr>
            <a:picLocks noChangeAspect="1" noChangeArrowheads="1"/>
          </p:cNvPicPr>
          <p:nvPr/>
        </p:nvPicPr>
        <p:blipFill>
          <a:blip r:embed="rId3"/>
          <a:srcRect/>
          <a:stretch>
            <a:fillRect/>
          </a:stretch>
        </p:blipFill>
        <p:spPr bwMode="auto">
          <a:xfrm>
            <a:off x="6429406" y="5110186"/>
            <a:ext cx="2571750" cy="16764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1877338"/>
          </a:xfrm>
        </p:spPr>
        <p:txBody>
          <a:bodyPr/>
          <a:lstStyle/>
          <a:p>
            <a:pPr>
              <a:buNone/>
            </a:pPr>
            <a:r>
              <a:rPr lang="zh-CN" altLang="en-US" b="1" dirty="0" smtClean="0"/>
              <a:t>商圈管理：</a:t>
            </a:r>
            <a:endParaRPr lang="en-US" altLang="zh-CN" b="1" dirty="0" smtClean="0"/>
          </a:p>
          <a:p>
            <a:pPr>
              <a:buNone/>
            </a:pPr>
            <a:r>
              <a:rPr lang="en-US" altLang="zh-CN" dirty="0" smtClean="0"/>
              <a:t>	</a:t>
            </a:r>
            <a:r>
              <a:rPr lang="zh-CN" altLang="zh-CN" sz="1900" dirty="0" smtClean="0"/>
              <a:t>系统可以根据经营者的</a:t>
            </a:r>
            <a:r>
              <a:rPr lang="zh-CN" altLang="en-US" sz="1900" dirty="0" smtClean="0"/>
              <a:t>所在</a:t>
            </a:r>
            <a:r>
              <a:rPr lang="zh-CN" altLang="zh-CN" sz="1900" dirty="0" smtClean="0"/>
              <a:t>地址划分其所属商圈。</a:t>
            </a:r>
            <a:endParaRPr lang="en-US" altLang="zh-CN" sz="1900" dirty="0" smtClean="0"/>
          </a:p>
          <a:p>
            <a:pPr>
              <a:buNone/>
            </a:pPr>
            <a:r>
              <a:rPr lang="en-US" altLang="zh-CN" sz="1900" dirty="0" smtClean="0"/>
              <a:t>	</a:t>
            </a:r>
            <a:r>
              <a:rPr lang="zh-CN" altLang="en-US" sz="1900" dirty="0" smtClean="0"/>
              <a:t>用户可以对商圈的信用等级划分规则进行设置。</a:t>
            </a:r>
            <a:endParaRPr lang="zh-CN" altLang="zh-CN" sz="1900" dirty="0" smtClean="0"/>
          </a:p>
          <a:p>
            <a:pPr>
              <a:buNone/>
            </a:pPr>
            <a:endParaRPr lang="zh-CN" altLang="en-US" b="1" dirty="0"/>
          </a:p>
        </p:txBody>
      </p:sp>
      <p:pic>
        <p:nvPicPr>
          <p:cNvPr id="2050" name="Picture 2"/>
          <p:cNvPicPr>
            <a:picLocks noChangeAspect="1" noChangeArrowheads="1"/>
          </p:cNvPicPr>
          <p:nvPr/>
        </p:nvPicPr>
        <p:blipFill>
          <a:blip r:embed="rId2"/>
          <a:srcRect/>
          <a:stretch>
            <a:fillRect/>
          </a:stretch>
        </p:blipFill>
        <p:spPr bwMode="auto">
          <a:xfrm>
            <a:off x="571472" y="2285992"/>
            <a:ext cx="8072494" cy="44386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a:spLocks noGrp="1"/>
          </p:cNvSpPr>
          <p:nvPr>
            <p:ph idx="1"/>
          </p:nvPr>
        </p:nvSpPr>
        <p:spPr>
          <a:xfrm>
            <a:off x="467544" y="908720"/>
            <a:ext cx="8229600" cy="1162958"/>
          </a:xfrm>
        </p:spPr>
        <p:txBody>
          <a:bodyPr/>
          <a:lstStyle/>
          <a:p>
            <a:pPr>
              <a:buNone/>
            </a:pPr>
            <a:r>
              <a:rPr lang="zh-CN" altLang="en-US" b="1" dirty="0" smtClean="0"/>
              <a:t>商圈管理：</a:t>
            </a:r>
            <a:endParaRPr lang="en-US" altLang="zh-CN" b="1" dirty="0" smtClean="0"/>
          </a:p>
          <a:p>
            <a:pPr>
              <a:buNone/>
            </a:pPr>
            <a:endParaRPr lang="zh-CN" altLang="en-US" b="1" dirty="0"/>
          </a:p>
        </p:txBody>
      </p:sp>
      <p:pic>
        <p:nvPicPr>
          <p:cNvPr id="3074" name="Picture 2"/>
          <p:cNvPicPr>
            <a:picLocks noChangeAspect="1" noChangeArrowheads="1"/>
          </p:cNvPicPr>
          <p:nvPr/>
        </p:nvPicPr>
        <p:blipFill>
          <a:blip r:embed="rId2"/>
          <a:srcRect/>
          <a:stretch>
            <a:fillRect/>
          </a:stretch>
        </p:blipFill>
        <p:spPr bwMode="auto">
          <a:xfrm>
            <a:off x="714348" y="1571612"/>
            <a:ext cx="7572428" cy="5103883"/>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4234792"/>
          </a:xfrm>
        </p:spPr>
        <p:txBody>
          <a:bodyPr>
            <a:normAutofit/>
          </a:bodyPr>
          <a:lstStyle/>
          <a:p>
            <a:pPr>
              <a:buNone/>
            </a:pPr>
            <a:r>
              <a:rPr lang="zh-CN" altLang="en-US" b="1" dirty="0" smtClean="0"/>
              <a:t>信息显示：</a:t>
            </a:r>
            <a:endParaRPr lang="en-US" altLang="zh-CN" b="1" dirty="0" smtClean="0"/>
          </a:p>
          <a:p>
            <a:pPr>
              <a:buNone/>
            </a:pPr>
            <a:r>
              <a:rPr lang="en-US" altLang="zh-CN" dirty="0" smtClean="0"/>
              <a:t>	</a:t>
            </a:r>
            <a:r>
              <a:rPr lang="zh-CN" altLang="zh-CN" sz="1900" dirty="0" smtClean="0"/>
              <a:t>可以在电子地图上显示价格信用库</a:t>
            </a:r>
            <a:r>
              <a:rPr lang="zh-CN" altLang="en-US" sz="1900" dirty="0" smtClean="0"/>
              <a:t>中</a:t>
            </a:r>
            <a:r>
              <a:rPr lang="zh-CN" altLang="zh-CN" sz="1900" dirty="0" smtClean="0"/>
              <a:t>的经营者信息。</a:t>
            </a:r>
          </a:p>
          <a:p>
            <a:pPr>
              <a:buNone/>
            </a:pPr>
            <a:r>
              <a:rPr lang="en-US" altLang="zh-CN" sz="1900" dirty="0" smtClean="0"/>
              <a:t>	</a:t>
            </a:r>
            <a:r>
              <a:rPr lang="zh-CN" altLang="zh-CN" sz="1900" dirty="0" smtClean="0"/>
              <a:t>在电子地图上点击某个经营者时，可以显示该经营者的详细信息和价格信息。</a:t>
            </a:r>
          </a:p>
          <a:p>
            <a:pPr>
              <a:buNone/>
            </a:pPr>
            <a:r>
              <a:rPr lang="en-US" altLang="zh-CN" sz="1900" dirty="0" smtClean="0"/>
              <a:t>	</a:t>
            </a:r>
            <a:r>
              <a:rPr lang="zh-CN" altLang="zh-CN" sz="1900" dirty="0" smtClean="0"/>
              <a:t>可以对各商圈的价格信用进行分级，且不同的信用等级在电子地图上用不同的颜色显示</a:t>
            </a:r>
            <a:r>
              <a:rPr lang="zh-CN" altLang="en-US" sz="1900" dirty="0" smtClean="0"/>
              <a:t>，</a:t>
            </a:r>
            <a:r>
              <a:rPr lang="zh-CN" altLang="zh-CN" sz="1900" dirty="0" smtClean="0"/>
              <a:t>用户可以对用来显示信用分级的颜色进行设置。</a:t>
            </a:r>
          </a:p>
          <a:p>
            <a:pPr>
              <a:buNone/>
            </a:pPr>
            <a:r>
              <a:rPr lang="en-US" altLang="zh-CN" sz="1900" dirty="0" smtClean="0"/>
              <a:t>	</a:t>
            </a:r>
            <a:r>
              <a:rPr lang="zh-CN" altLang="zh-CN" sz="1900" dirty="0" smtClean="0"/>
              <a:t>可以将被价格举报的经营者在电子地图上进行标记。</a:t>
            </a:r>
          </a:p>
          <a:p>
            <a:pPr>
              <a:buNone/>
            </a:pPr>
            <a:r>
              <a:rPr lang="en-US" altLang="zh-CN" sz="1900" dirty="0" smtClean="0"/>
              <a:t>	</a:t>
            </a:r>
            <a:r>
              <a:rPr lang="zh-CN" altLang="zh-CN" sz="1900" dirty="0" smtClean="0"/>
              <a:t>可以与案审系统相结合，将各经营者的案审信息直接显示在电子地图上。</a:t>
            </a:r>
          </a:p>
          <a:p>
            <a:pPr>
              <a:buNone/>
            </a:pPr>
            <a:r>
              <a:rPr lang="en-US" altLang="zh-CN" sz="1900" dirty="0" smtClean="0"/>
              <a:t>	</a:t>
            </a:r>
            <a:r>
              <a:rPr lang="zh-CN" altLang="zh-CN" sz="1900" dirty="0" smtClean="0"/>
              <a:t>可以支持批量导入经营者信息并将其显示在地图上。</a:t>
            </a:r>
          </a:p>
          <a:p>
            <a:pPr>
              <a:buNone/>
            </a:pPr>
            <a:r>
              <a:rPr lang="en-US" altLang="zh-CN" sz="1900" dirty="0" smtClean="0"/>
              <a:t>	</a:t>
            </a:r>
            <a:r>
              <a:rPr lang="zh-CN" altLang="zh-CN" sz="1900" dirty="0" smtClean="0"/>
              <a:t>可以通过名称搜索到对应经营者及其上海范围内的所有连锁店，并显示其所有连锁店的信息。</a:t>
            </a:r>
          </a:p>
          <a:p>
            <a:pPr>
              <a:buNone/>
            </a:pPr>
            <a:endParaRPr lang="zh-CN" altLang="en-US" b="1"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247650" y="1690709"/>
            <a:ext cx="8648700" cy="4810125"/>
          </a:xfrm>
          <a:prstGeom prst="rect">
            <a:avLst/>
          </a:prstGeom>
          <a:noFill/>
          <a:ln w="9525">
            <a:noFill/>
            <a:miter lim="800000"/>
            <a:headEnd/>
            <a:tailEnd/>
          </a:ln>
          <a:effectLst/>
        </p:spPr>
      </p:pic>
      <p:sp>
        <p:nvSpPr>
          <p:cNvPr id="5" name="内容占位符 2"/>
          <p:cNvSpPr>
            <a:spLocks noGrp="1"/>
          </p:cNvSpPr>
          <p:nvPr>
            <p:ph idx="1"/>
          </p:nvPr>
        </p:nvSpPr>
        <p:spPr>
          <a:xfrm>
            <a:off x="467544" y="908720"/>
            <a:ext cx="8229600" cy="662892"/>
          </a:xfrm>
        </p:spPr>
        <p:txBody>
          <a:bodyPr>
            <a:normAutofit/>
          </a:bodyPr>
          <a:lstStyle/>
          <a:p>
            <a:pPr>
              <a:buNone/>
            </a:pPr>
            <a:r>
              <a:rPr lang="zh-CN" altLang="en-US" b="1" dirty="0" smtClean="0"/>
              <a:t>信息显示：</a:t>
            </a:r>
            <a:r>
              <a:rPr lang="en-US" altLang="zh-CN" dirty="0" smtClean="0"/>
              <a:t>	</a:t>
            </a:r>
            <a:endParaRPr lang="zh-CN" altLang="en-US"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a:spLocks noGrp="1"/>
          </p:cNvSpPr>
          <p:nvPr>
            <p:ph idx="1"/>
          </p:nvPr>
        </p:nvSpPr>
        <p:spPr>
          <a:xfrm>
            <a:off x="467544" y="908720"/>
            <a:ext cx="8229600" cy="662892"/>
          </a:xfrm>
        </p:spPr>
        <p:txBody>
          <a:bodyPr>
            <a:normAutofit/>
          </a:bodyPr>
          <a:lstStyle/>
          <a:p>
            <a:pPr>
              <a:buNone/>
            </a:pPr>
            <a:r>
              <a:rPr lang="zh-CN" altLang="en-US" b="1" dirty="0" smtClean="0"/>
              <a:t>信息显示：</a:t>
            </a:r>
            <a:r>
              <a:rPr lang="en-US" altLang="zh-CN" dirty="0" smtClean="0"/>
              <a:t>	</a:t>
            </a:r>
            <a:endParaRPr lang="zh-CN" altLang="en-US" b="1" dirty="0"/>
          </a:p>
        </p:txBody>
      </p:sp>
      <p:pic>
        <p:nvPicPr>
          <p:cNvPr id="5122" name="Picture 2"/>
          <p:cNvPicPr>
            <a:picLocks noChangeAspect="1" noChangeArrowheads="1"/>
          </p:cNvPicPr>
          <p:nvPr/>
        </p:nvPicPr>
        <p:blipFill>
          <a:blip r:embed="rId2"/>
          <a:srcRect/>
          <a:stretch>
            <a:fillRect/>
          </a:stretch>
        </p:blipFill>
        <p:spPr bwMode="auto">
          <a:xfrm>
            <a:off x="928662" y="1428736"/>
            <a:ext cx="6700853" cy="4840679"/>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2377404"/>
          </a:xfrm>
        </p:spPr>
        <p:txBody>
          <a:bodyPr/>
          <a:lstStyle/>
          <a:p>
            <a:pPr>
              <a:buNone/>
            </a:pPr>
            <a:r>
              <a:rPr lang="zh-CN" altLang="en-US" b="1" dirty="0" smtClean="0"/>
              <a:t>人员管理：</a:t>
            </a:r>
            <a:endParaRPr lang="en-US" altLang="zh-CN" b="1" dirty="0" smtClean="0"/>
          </a:p>
          <a:p>
            <a:pPr>
              <a:buNone/>
            </a:pPr>
            <a:r>
              <a:rPr lang="en-US" altLang="zh-CN" dirty="0" smtClean="0"/>
              <a:t>	</a:t>
            </a:r>
            <a:r>
              <a:rPr lang="zh-CN" altLang="zh-CN" sz="1900" dirty="0" smtClean="0"/>
              <a:t>可以在</a:t>
            </a:r>
            <a:r>
              <a:rPr lang="zh-CN" altLang="en-US" sz="1900" dirty="0" smtClean="0"/>
              <a:t>电子</a:t>
            </a:r>
            <a:r>
              <a:rPr lang="zh-CN" altLang="zh-CN" sz="1900" dirty="0" smtClean="0"/>
              <a:t>地图上网格化显示各个区域，且可以对各个区域的负责人进行设置。</a:t>
            </a:r>
            <a:endParaRPr lang="en-US" altLang="zh-CN" sz="1900" dirty="0" smtClean="0"/>
          </a:p>
          <a:p>
            <a:pPr>
              <a:buNone/>
            </a:pPr>
            <a:r>
              <a:rPr lang="en-US" altLang="zh-CN" sz="1900" dirty="0" smtClean="0"/>
              <a:t>	</a:t>
            </a:r>
            <a:r>
              <a:rPr lang="zh-CN" altLang="zh-CN" sz="1900" dirty="0" smtClean="0"/>
              <a:t>可以在</a:t>
            </a:r>
            <a:r>
              <a:rPr lang="zh-CN" altLang="en-US" sz="1900" dirty="0" smtClean="0"/>
              <a:t>电子</a:t>
            </a:r>
            <a:r>
              <a:rPr lang="zh-CN" altLang="zh-CN" sz="1900" dirty="0" smtClean="0"/>
              <a:t>地图上设置巡查点，显示各巡查点的经营者信息和巡查信息</a:t>
            </a:r>
            <a:endParaRPr lang="en-US" altLang="zh-CN" sz="1900" dirty="0" smtClean="0"/>
          </a:p>
          <a:p>
            <a:pPr>
              <a:buNone/>
            </a:pPr>
            <a:r>
              <a:rPr lang="en-US" altLang="zh-CN" sz="1900" dirty="0" smtClean="0"/>
              <a:t>	</a:t>
            </a:r>
            <a:r>
              <a:rPr lang="zh-CN" altLang="zh-CN" sz="1900" dirty="0" smtClean="0"/>
              <a:t>可以根据各巡查人员的签到情况对各区县进行考核，且可自动进行提交生成考核结果。</a:t>
            </a:r>
          </a:p>
          <a:p>
            <a:pPr>
              <a:buNone/>
            </a:pPr>
            <a:endParaRPr lang="zh-CN" altLang="zh-CN" dirty="0" smtClean="0"/>
          </a:p>
          <a:p>
            <a:pPr>
              <a:buNone/>
            </a:pPr>
            <a:endParaRPr lang="en-US" altLang="zh-CN" dirty="0" smtClean="0"/>
          </a:p>
          <a:p>
            <a:pPr>
              <a:buNone/>
            </a:pPr>
            <a:endParaRPr lang="zh-CN" altLang="zh-CN" dirty="0" smtClean="0"/>
          </a:p>
          <a:p>
            <a:pPr>
              <a:buNone/>
            </a:pPr>
            <a:endParaRPr lang="zh-CN" altLang="en-US" b="1"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642910" y="1643050"/>
            <a:ext cx="7786710" cy="4896627"/>
          </a:xfrm>
          <a:prstGeom prst="rect">
            <a:avLst/>
          </a:prstGeom>
          <a:noFill/>
          <a:ln w="9525">
            <a:noFill/>
            <a:miter lim="800000"/>
            <a:headEnd/>
            <a:tailEnd/>
          </a:ln>
          <a:effectLst/>
        </p:spPr>
      </p:pic>
      <p:sp>
        <p:nvSpPr>
          <p:cNvPr id="5" name="内容占位符 2"/>
          <p:cNvSpPr>
            <a:spLocks noGrp="1"/>
          </p:cNvSpPr>
          <p:nvPr>
            <p:ph idx="1"/>
          </p:nvPr>
        </p:nvSpPr>
        <p:spPr>
          <a:xfrm>
            <a:off x="467544" y="908720"/>
            <a:ext cx="8229600" cy="2377404"/>
          </a:xfrm>
        </p:spPr>
        <p:txBody>
          <a:bodyPr/>
          <a:lstStyle/>
          <a:p>
            <a:pPr>
              <a:buNone/>
            </a:pPr>
            <a:r>
              <a:rPr lang="zh-CN" altLang="en-US" b="1" dirty="0" smtClean="0"/>
              <a:t>人员管理：</a:t>
            </a:r>
            <a:endParaRPr lang="en-US" altLang="zh-CN" b="1" dirty="0" smtClean="0"/>
          </a:p>
          <a:p>
            <a:pPr>
              <a:buNone/>
            </a:pPr>
            <a:endParaRPr lang="zh-CN" altLang="zh-CN" dirty="0" smtClean="0"/>
          </a:p>
          <a:p>
            <a:pPr>
              <a:buNone/>
            </a:pPr>
            <a:endParaRPr lang="en-US" altLang="zh-CN" dirty="0" smtClean="0"/>
          </a:p>
          <a:p>
            <a:pPr>
              <a:buNone/>
            </a:pPr>
            <a:endParaRPr lang="zh-CN" altLang="zh-CN" dirty="0" smtClean="0"/>
          </a:p>
          <a:p>
            <a:pPr>
              <a:buNone/>
            </a:pPr>
            <a:endParaRPr lang="zh-CN" altLang="en-US"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buNone/>
            </a:pPr>
            <a:r>
              <a:rPr lang="zh-CN" altLang="en-US" b="1" dirty="0" smtClean="0"/>
              <a:t>功能概述：</a:t>
            </a:r>
            <a:endParaRPr lang="en-US" altLang="zh-CN" b="1" dirty="0" smtClean="0"/>
          </a:p>
          <a:p>
            <a:pPr>
              <a:buNone/>
            </a:pPr>
            <a:r>
              <a:rPr lang="en-US" altLang="zh-CN" b="1" dirty="0" smtClean="0"/>
              <a:t>	</a:t>
            </a:r>
            <a:r>
              <a:rPr lang="zh-CN" altLang="en-US" dirty="0" smtClean="0"/>
              <a:t>本终端会与信用库相结合，方便执法人员登记、查看企业的基本信息与相关价格信用信息；同时，也会与价格预警平台相结合，方便价格采集人员上报商品价格；并与地理信息平台相结合，方便执法人员进行工作和对执法人员进行管理。</a:t>
            </a:r>
            <a:endParaRPr lang="zh-CN" altLang="en-US" dirty="0"/>
          </a:p>
        </p:txBody>
      </p:sp>
      <p:sp>
        <p:nvSpPr>
          <p:cNvPr id="4" name="标题 1"/>
          <p:cNvSpPr>
            <a:spLocks noGrp="1"/>
          </p:cNvSpPr>
          <p:nvPr>
            <p:ph type="title"/>
          </p:nvPr>
        </p:nvSpPr>
        <p:spPr/>
        <p:txBody>
          <a:bodyPr/>
          <a:lstStyle/>
          <a:p>
            <a:r>
              <a:rPr lang="zh-CN" altLang="en-US" dirty="0" smtClean="0"/>
              <a:t>移动终端</a:t>
            </a:r>
            <a:endParaRPr lang="zh-CN" alt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移动终端</a:t>
            </a:r>
            <a:endParaRPr lang="zh-CN" altLang="en-US" dirty="0"/>
          </a:p>
        </p:txBody>
      </p:sp>
      <p:sp>
        <p:nvSpPr>
          <p:cNvPr id="3" name="内容占位符 2"/>
          <p:cNvSpPr>
            <a:spLocks noGrp="1"/>
          </p:cNvSpPr>
          <p:nvPr>
            <p:ph idx="1"/>
          </p:nvPr>
        </p:nvSpPr>
        <p:spPr/>
        <p:txBody>
          <a:bodyPr/>
          <a:lstStyle/>
          <a:p>
            <a:r>
              <a:rPr lang="zh-CN" altLang="en-US" dirty="0" smtClean="0"/>
              <a:t>信息登记</a:t>
            </a:r>
            <a:endParaRPr lang="en-US" altLang="zh-CN" dirty="0" smtClean="0"/>
          </a:p>
          <a:p>
            <a:r>
              <a:rPr lang="zh-CN" altLang="en-US" dirty="0" smtClean="0"/>
              <a:t>价格上报</a:t>
            </a:r>
            <a:endParaRPr lang="en-US" altLang="zh-CN" dirty="0" smtClean="0"/>
          </a:p>
          <a:p>
            <a:r>
              <a:rPr lang="zh-CN" altLang="en-US" dirty="0" smtClean="0"/>
              <a:t>人员定位</a:t>
            </a:r>
            <a:endParaRPr lang="en-US" altLang="zh-CN" dirty="0" smtClean="0"/>
          </a:p>
          <a:p>
            <a:r>
              <a:rPr lang="zh-CN" altLang="zh-CN" sz="2800" dirty="0" smtClean="0"/>
              <a:t>巡查点</a:t>
            </a:r>
            <a:r>
              <a:rPr lang="zh-CN" altLang="en-US" sz="2800" dirty="0" smtClean="0"/>
              <a:t>查询</a:t>
            </a:r>
            <a:endParaRPr lang="en-US" altLang="zh-CN" sz="2800" dirty="0" smtClean="0"/>
          </a:p>
          <a:p>
            <a:r>
              <a:rPr lang="zh-CN" altLang="en-US" dirty="0" smtClean="0"/>
              <a:t>接收通知推送</a:t>
            </a:r>
            <a:endParaRPr lang="zh-CN" alt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4389120"/>
          </a:xfrm>
        </p:spPr>
        <p:txBody>
          <a:bodyPr/>
          <a:lstStyle/>
          <a:p>
            <a:pPr>
              <a:buNone/>
            </a:pPr>
            <a:r>
              <a:rPr lang="zh-CN" altLang="en-US" b="1" dirty="0" smtClean="0"/>
              <a:t>信息登记：</a:t>
            </a:r>
            <a:endParaRPr lang="en-US" altLang="zh-CN" b="1" dirty="0" smtClean="0"/>
          </a:p>
          <a:p>
            <a:pPr>
              <a:buNone/>
            </a:pPr>
            <a:r>
              <a:rPr lang="en-US" altLang="zh-CN" dirty="0" smtClean="0"/>
              <a:t>	</a:t>
            </a:r>
            <a:r>
              <a:rPr lang="zh-CN" altLang="zh-CN" sz="1900" dirty="0" smtClean="0"/>
              <a:t>在登记经营者信息时，用户可以在先现场扫描组织机构代码的条码上报到信用库中</a:t>
            </a:r>
            <a:endParaRPr lang="en-US" altLang="zh-CN" sz="1900" dirty="0" smtClean="0"/>
          </a:p>
          <a:p>
            <a:pPr>
              <a:buNone/>
            </a:pPr>
            <a:endParaRPr lang="en-US" altLang="zh-CN" sz="1900" dirty="0" smtClean="0"/>
          </a:p>
          <a:p>
            <a:pPr>
              <a:buNone/>
            </a:pPr>
            <a:r>
              <a:rPr lang="en-US" altLang="zh-CN" sz="1900" dirty="0" smtClean="0"/>
              <a:t>	</a:t>
            </a:r>
            <a:r>
              <a:rPr lang="zh-CN" altLang="zh-CN" sz="1900" dirty="0" smtClean="0"/>
              <a:t>经营者的详细信息</a:t>
            </a:r>
            <a:r>
              <a:rPr lang="zh-CN" altLang="en-US" sz="1900" dirty="0" smtClean="0"/>
              <a:t>可以在客户端上完成录入，也可以回到办公室后再</a:t>
            </a:r>
            <a:r>
              <a:rPr lang="zh-CN" altLang="zh-CN" sz="1900" dirty="0" smtClean="0"/>
              <a:t>进行补充填写。</a:t>
            </a:r>
            <a:endParaRPr lang="en-US" altLang="zh-CN" sz="1900" dirty="0" smtClean="0"/>
          </a:p>
          <a:p>
            <a:pPr>
              <a:buNone/>
            </a:pPr>
            <a:endParaRPr lang="zh-CN" altLang="zh-CN" sz="1900" dirty="0" smtClean="0"/>
          </a:p>
          <a:p>
            <a:pPr>
              <a:buNone/>
            </a:pPr>
            <a:r>
              <a:rPr lang="en-US" altLang="zh-CN" sz="1900" dirty="0" smtClean="0"/>
              <a:t>	</a:t>
            </a:r>
            <a:r>
              <a:rPr lang="zh-CN" altLang="zh-CN" sz="1900" dirty="0" smtClean="0"/>
              <a:t>在登记价格信用信息时，可以支持上传图像和声音信息。</a:t>
            </a:r>
          </a:p>
          <a:p>
            <a:pPr>
              <a:buNone/>
            </a:pPr>
            <a:endParaRPr lang="zh-CN" altLang="en-US" b="1"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4389120"/>
          </a:xfrm>
        </p:spPr>
        <p:txBody>
          <a:bodyPr/>
          <a:lstStyle/>
          <a:p>
            <a:pPr>
              <a:buNone/>
            </a:pPr>
            <a:r>
              <a:rPr lang="zh-CN" altLang="en-US" b="1" dirty="0" smtClean="0"/>
              <a:t>价格上报：</a:t>
            </a:r>
            <a:endParaRPr lang="en-US" altLang="zh-CN" b="1" dirty="0" smtClean="0"/>
          </a:p>
          <a:p>
            <a:pPr>
              <a:buNone/>
            </a:pPr>
            <a:r>
              <a:rPr lang="en-US" altLang="zh-CN" sz="1900" dirty="0" smtClean="0"/>
              <a:t>	</a:t>
            </a:r>
            <a:r>
              <a:rPr lang="zh-CN" altLang="zh-CN" sz="1900" dirty="0" smtClean="0"/>
              <a:t>用户可以提供通过移动终端扫描商品条码，手动填写商品价格进行上报的方式进行数据上报。</a:t>
            </a:r>
          </a:p>
          <a:p>
            <a:pPr>
              <a:buNone/>
            </a:pPr>
            <a:endParaRPr lang="zh-CN" altLang="en-US" b="1" dirty="0"/>
          </a:p>
        </p:txBody>
      </p:sp>
      <p:pic>
        <p:nvPicPr>
          <p:cNvPr id="2051" name="Picture 3" descr="C:\Users\Xu Jin\Desktop\1016-1302161459505Q.jpg"/>
          <p:cNvPicPr>
            <a:picLocks noChangeAspect="1" noChangeArrowheads="1"/>
          </p:cNvPicPr>
          <p:nvPr/>
        </p:nvPicPr>
        <p:blipFill>
          <a:blip r:embed="rId2"/>
          <a:srcRect/>
          <a:stretch>
            <a:fillRect/>
          </a:stretch>
        </p:blipFill>
        <p:spPr bwMode="auto">
          <a:xfrm>
            <a:off x="3929058" y="2285992"/>
            <a:ext cx="4486275" cy="2657475"/>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4389120"/>
          </a:xfrm>
        </p:spPr>
        <p:txBody>
          <a:bodyPr>
            <a:normAutofit/>
          </a:bodyPr>
          <a:lstStyle/>
          <a:p>
            <a:pPr>
              <a:buNone/>
            </a:pPr>
            <a:r>
              <a:rPr lang="zh-CN" altLang="en-US" b="1" dirty="0" smtClean="0"/>
              <a:t>人员定位：</a:t>
            </a:r>
            <a:endParaRPr lang="en-US" altLang="zh-CN" b="1" dirty="0" smtClean="0"/>
          </a:p>
          <a:p>
            <a:pPr>
              <a:buNone/>
            </a:pPr>
            <a:r>
              <a:rPr lang="en-US" altLang="zh-CN" sz="1900" dirty="0" smtClean="0"/>
              <a:t>	</a:t>
            </a:r>
            <a:r>
              <a:rPr lang="zh-CN" altLang="zh-CN" sz="1900" dirty="0" smtClean="0"/>
              <a:t>可以</a:t>
            </a:r>
            <a:r>
              <a:rPr lang="zh-CN" altLang="en-US" sz="1900" dirty="0" smtClean="0"/>
              <a:t>通过移动终端</a:t>
            </a:r>
            <a:r>
              <a:rPr lang="zh-CN" altLang="zh-CN" sz="1900" dirty="0" smtClean="0"/>
              <a:t>在电子地图上对执法人员进行定位。</a:t>
            </a:r>
            <a:endParaRPr lang="en-US" altLang="zh-CN" sz="1900" dirty="0" smtClean="0"/>
          </a:p>
          <a:p>
            <a:pPr>
              <a:buNone/>
            </a:pPr>
            <a:endParaRPr lang="zh-CN" altLang="zh-CN" sz="1900" dirty="0" smtClean="0"/>
          </a:p>
          <a:p>
            <a:pPr>
              <a:buNone/>
            </a:pPr>
            <a:r>
              <a:rPr lang="en-US" altLang="zh-CN" sz="1900" dirty="0" smtClean="0"/>
              <a:t>	</a:t>
            </a:r>
            <a:endParaRPr lang="zh-CN" altLang="zh-CN" sz="1900" dirty="0" smtClean="0"/>
          </a:p>
          <a:p>
            <a:pPr>
              <a:buNone/>
            </a:pPr>
            <a:endParaRPr lang="zh-CN" altLang="en-US" b="1"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4389120"/>
          </a:xfrm>
        </p:spPr>
        <p:txBody>
          <a:bodyPr>
            <a:normAutofit/>
          </a:bodyPr>
          <a:lstStyle/>
          <a:p>
            <a:pPr>
              <a:buNone/>
            </a:pPr>
            <a:r>
              <a:rPr lang="zh-CN" altLang="zh-CN" sz="2400" b="1" dirty="0" smtClean="0"/>
              <a:t>巡查点</a:t>
            </a:r>
            <a:r>
              <a:rPr lang="zh-CN" altLang="en-US" sz="2400" b="1" dirty="0" smtClean="0"/>
              <a:t>查询</a:t>
            </a:r>
            <a:r>
              <a:rPr lang="zh-CN" altLang="en-US" b="1" dirty="0" smtClean="0"/>
              <a:t>：</a:t>
            </a:r>
            <a:endParaRPr lang="en-US" altLang="zh-CN" b="1" dirty="0" smtClean="0"/>
          </a:p>
          <a:p>
            <a:pPr>
              <a:buNone/>
            </a:pPr>
            <a:r>
              <a:rPr lang="en-US" altLang="zh-CN" sz="1900" dirty="0" smtClean="0"/>
              <a:t>	</a:t>
            </a:r>
            <a:r>
              <a:rPr lang="zh-CN" altLang="en-US" sz="1900" dirty="0" smtClean="0"/>
              <a:t>用户可以在地图上查看当前位置附近的经营者信息</a:t>
            </a:r>
            <a:endParaRPr lang="en-US" altLang="zh-CN" sz="1900" dirty="0" smtClean="0"/>
          </a:p>
          <a:p>
            <a:pPr>
              <a:buNone/>
            </a:pPr>
            <a:r>
              <a:rPr lang="en-US" altLang="zh-CN" sz="1900" dirty="0" smtClean="0"/>
              <a:t>	</a:t>
            </a:r>
            <a:r>
              <a:rPr lang="zh-CN" altLang="zh-CN" sz="1900" dirty="0" smtClean="0"/>
              <a:t>各巡查点的人员可以</a:t>
            </a:r>
            <a:r>
              <a:rPr lang="zh-CN" altLang="en-US" sz="1900" dirty="0" smtClean="0"/>
              <a:t>利用移动终端</a:t>
            </a:r>
            <a:r>
              <a:rPr lang="zh-CN" altLang="zh-CN" sz="1900" dirty="0" smtClean="0"/>
              <a:t>通过本平台实现网上签到，标明各巡查人员的巡查情况。</a:t>
            </a:r>
            <a:endParaRPr lang="en-US" altLang="zh-CN" sz="1900" dirty="0" smtClean="0"/>
          </a:p>
          <a:p>
            <a:pPr>
              <a:buNone/>
            </a:pPr>
            <a:endParaRPr lang="zh-CN" altLang="zh-CN" sz="1900" dirty="0" smtClean="0"/>
          </a:p>
          <a:p>
            <a:pPr>
              <a:buNone/>
            </a:pPr>
            <a:r>
              <a:rPr lang="en-US" altLang="zh-CN" sz="1900" dirty="0" smtClean="0"/>
              <a:t>	 </a:t>
            </a:r>
            <a:endParaRPr lang="zh-CN" altLang="zh-CN" sz="1900" dirty="0" smtClean="0"/>
          </a:p>
          <a:p>
            <a:pPr>
              <a:buNone/>
            </a:pPr>
            <a:endParaRPr lang="zh-CN" altLang="en-US" b="1" dirty="0"/>
          </a:p>
        </p:txBody>
      </p:sp>
      <p:pic>
        <p:nvPicPr>
          <p:cNvPr id="1026" name="Picture 2" descr="C:\Users\Xu Jin\Desktop\map.png"/>
          <p:cNvPicPr>
            <a:picLocks noChangeAspect="1" noChangeArrowheads="1"/>
          </p:cNvPicPr>
          <p:nvPr/>
        </p:nvPicPr>
        <p:blipFill>
          <a:blip r:embed="rId2" cstate="print"/>
          <a:srcRect/>
          <a:stretch>
            <a:fillRect/>
          </a:stretch>
        </p:blipFill>
        <p:spPr bwMode="auto">
          <a:xfrm>
            <a:off x="6215074" y="2285992"/>
            <a:ext cx="2321720" cy="3714752"/>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229600" cy="4389120"/>
          </a:xfrm>
        </p:spPr>
        <p:txBody>
          <a:bodyPr>
            <a:normAutofit/>
          </a:bodyPr>
          <a:lstStyle/>
          <a:p>
            <a:pPr>
              <a:buNone/>
            </a:pPr>
            <a:r>
              <a:rPr lang="zh-CN" altLang="en-US" b="1" dirty="0" smtClean="0"/>
              <a:t>接收通知推送：</a:t>
            </a:r>
            <a:endParaRPr lang="en-US" altLang="zh-CN" b="1" dirty="0" smtClean="0"/>
          </a:p>
          <a:p>
            <a:pPr>
              <a:buNone/>
            </a:pPr>
            <a:r>
              <a:rPr lang="en-US" altLang="zh-CN" sz="1900" dirty="0" smtClean="0"/>
              <a:t>	</a:t>
            </a:r>
            <a:r>
              <a:rPr lang="zh-CN" altLang="en-US" sz="1900" dirty="0" smtClean="0"/>
              <a:t>用户可以实时接收控制中心发出的消息。</a:t>
            </a:r>
            <a:endParaRPr lang="zh-CN" altLang="zh-CN" sz="1900" dirty="0" smtClean="0"/>
          </a:p>
          <a:p>
            <a:pPr>
              <a:buNone/>
            </a:pPr>
            <a:r>
              <a:rPr lang="en-US" altLang="zh-CN" sz="1900" dirty="0" smtClean="0"/>
              <a:t>	 </a:t>
            </a:r>
            <a:endParaRPr lang="zh-CN" altLang="zh-CN" sz="1900" dirty="0" smtClean="0"/>
          </a:p>
          <a:p>
            <a:pPr>
              <a:buNone/>
            </a:pPr>
            <a:endParaRPr lang="zh-CN" altLang="en-US" b="1" dirty="0"/>
          </a:p>
        </p:txBody>
      </p:sp>
      <p:pic>
        <p:nvPicPr>
          <p:cNvPr id="3074" name="Picture 2" descr="C:\Users\Xu Jin\Desktop\0890b1064a0ffe9981c85aa702fb48ae.jpg"/>
          <p:cNvPicPr>
            <a:picLocks noChangeAspect="1" noChangeArrowheads="1"/>
          </p:cNvPicPr>
          <p:nvPr/>
        </p:nvPicPr>
        <p:blipFill>
          <a:blip r:embed="rId2"/>
          <a:srcRect/>
          <a:stretch>
            <a:fillRect/>
          </a:stretch>
        </p:blipFill>
        <p:spPr bwMode="auto">
          <a:xfrm>
            <a:off x="6143636" y="2143116"/>
            <a:ext cx="2333625" cy="3886200"/>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1339</TotalTime>
  <Words>918</Words>
  <Application>Microsoft Office PowerPoint</Application>
  <PresentationFormat>全屏显示(4:3)</PresentationFormat>
  <Paragraphs>176</Paragraphs>
  <Slides>39</Slides>
  <Notes>1</Notes>
  <HiddenSlides>0</HiddenSlides>
  <MMClips>0</MMClips>
  <ScaleCrop>false</ScaleCrop>
  <HeadingPairs>
    <vt:vector size="4" baseType="variant">
      <vt:variant>
        <vt:lpstr>主题</vt:lpstr>
      </vt:variant>
      <vt:variant>
        <vt:i4>1</vt:i4>
      </vt:variant>
      <vt:variant>
        <vt:lpstr>幻灯片标题</vt:lpstr>
      </vt:variant>
      <vt:variant>
        <vt:i4>39</vt:i4>
      </vt:variant>
    </vt:vector>
  </HeadingPairs>
  <TitlesOfParts>
    <vt:vector size="40" baseType="lpstr">
      <vt:lpstr>流畅</vt:lpstr>
      <vt:lpstr> 市场价格监管服务平台</vt:lpstr>
      <vt:lpstr>市场价格监管服务平台</vt:lpstr>
      <vt:lpstr>幻灯片 3</vt:lpstr>
      <vt:lpstr>价格信用库</vt:lpstr>
      <vt:lpstr>价格信用库</vt:lpstr>
      <vt:lpstr>幻灯片 6</vt:lpstr>
      <vt:lpstr>幻灯片 7</vt:lpstr>
      <vt:lpstr>幻灯片 8</vt:lpstr>
      <vt:lpstr>幻灯片 9</vt:lpstr>
      <vt:lpstr>幻灯片 10</vt:lpstr>
      <vt:lpstr>幻灯片 11</vt:lpstr>
      <vt:lpstr>幻灯片 12</vt:lpstr>
      <vt:lpstr>幻灯片 13</vt:lpstr>
      <vt:lpstr>幻灯片 14</vt:lpstr>
      <vt:lpstr>价格监测预警系统</vt:lpstr>
      <vt:lpstr>价格监测预警系统</vt:lpstr>
      <vt:lpstr>幻灯片 17</vt:lpstr>
      <vt:lpstr>幻灯片 18</vt:lpstr>
      <vt:lpstr>幻灯片 19</vt:lpstr>
      <vt:lpstr>幻灯片 20</vt:lpstr>
      <vt:lpstr>幻灯片 21</vt:lpstr>
      <vt:lpstr>价格地理信息平台</vt:lpstr>
      <vt:lpstr>价格地理信息平台</vt:lpstr>
      <vt:lpstr>幻灯片 24</vt:lpstr>
      <vt:lpstr>幻灯片 25</vt:lpstr>
      <vt:lpstr>幻灯片 26</vt:lpstr>
      <vt:lpstr>幻灯片 27</vt:lpstr>
      <vt:lpstr>幻灯片 28</vt:lpstr>
      <vt:lpstr>幻灯片 29</vt:lpstr>
      <vt:lpstr>幻灯片 30</vt:lpstr>
      <vt:lpstr>幻灯片 31</vt:lpstr>
      <vt:lpstr>幻灯片 32</vt:lpstr>
      <vt:lpstr>移动终端</vt:lpstr>
      <vt:lpstr>移动终端</vt:lpstr>
      <vt:lpstr>幻灯片 35</vt:lpstr>
      <vt:lpstr>幻灯片 36</vt:lpstr>
      <vt:lpstr>幻灯片 37</vt:lpstr>
      <vt:lpstr>幻灯片 38</vt:lpstr>
      <vt:lpstr>幻灯片 39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价监局信息化增补项目</dc:title>
  <dc:creator>Administrator</dc:creator>
  <cp:lastModifiedBy>shm用户</cp:lastModifiedBy>
  <cp:revision>115</cp:revision>
  <dcterms:created xsi:type="dcterms:W3CDTF">2014-03-19T01:41:00Z</dcterms:created>
  <dcterms:modified xsi:type="dcterms:W3CDTF">2014-04-09T07:21:30Z</dcterms:modified>
</cp:coreProperties>
</file>